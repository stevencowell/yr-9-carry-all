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841ecb4a1c4114" /><Relationship Type="http://schemas.openxmlformats.org/officeDocument/2006/relationships/extended-properties" Target="/docProps/app.xml" Id="R8aa7e3fe414143cf" /><Relationship Type="http://schemas.openxmlformats.org/officeDocument/2006/relationships/officeDocument" Target="/ppt/presentation.xml" Id="R713143adcab242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e95ea3fffd49fb"/>
  </p:sldMasterIdLst>
  <p:notesMasterIdLst>
    <p:notesMasterId xmlns:r="http://schemas.openxmlformats.org/officeDocument/2006/relationships" r:id="R24a19487a932449e"/>
  </p:notesMasterIdLst>
  <p:sldIdLst>
    <p:sldId xmlns:r="http://schemas.openxmlformats.org/officeDocument/2006/relationships" id="256" r:id="R22a4b14d860240e0"/>
    <p:sldId xmlns:r="http://schemas.openxmlformats.org/officeDocument/2006/relationships" id="257" r:id="Ra41cdf5e00134d7c"/>
    <p:sldId xmlns:r="http://schemas.openxmlformats.org/officeDocument/2006/relationships" id="258" r:id="R2b1bafb8718b4877"/>
    <p:sldId xmlns:r="http://schemas.openxmlformats.org/officeDocument/2006/relationships" id="259" r:id="R75a9ad8da9f94446"/>
    <p:sldId xmlns:r="http://schemas.openxmlformats.org/officeDocument/2006/relationships" id="260" r:id="Rad730176c78c4af2"/>
    <p:sldId xmlns:r="http://schemas.openxmlformats.org/officeDocument/2006/relationships" id="261" r:id="R745a5f5c3976416e"/>
    <p:sldId xmlns:r="http://schemas.openxmlformats.org/officeDocument/2006/relationships" id="262" r:id="Ra2731819fbe84559"/>
    <p:sldId xmlns:r="http://schemas.openxmlformats.org/officeDocument/2006/relationships" id="263" r:id="Rd7f9ea6b1d32427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3e4daaf8494e87" /><Relationship Type="http://schemas.openxmlformats.org/officeDocument/2006/relationships/slideMaster" Target="/ppt/slideMasters/slideMaster1.xml" Id="R59e95ea3fffd49fb" /><Relationship Type="http://schemas.openxmlformats.org/officeDocument/2006/relationships/notesMaster" Target="/ppt/notesMasters/notesMaster1.xml" Id="R24a19487a932449e" /><Relationship Type="http://schemas.openxmlformats.org/officeDocument/2006/relationships/presProps" Target="/ppt/presProps.xml" Id="R6292b7cee21345e7" /><Relationship Type="http://schemas.openxmlformats.org/officeDocument/2006/relationships/tableStyles" Target="/ppt/tableStyles.xml" Id="Rf8bfbabb83594e1c" /><Relationship Type="http://schemas.openxmlformats.org/officeDocument/2006/relationships/slide" Target="/ppt/slides/slide1.xml" Id="R22a4b14d860240e0" /><Relationship Type="http://schemas.openxmlformats.org/officeDocument/2006/relationships/slide" Target="/ppt/slides/slide2.xml" Id="Ra41cdf5e00134d7c" /><Relationship Type="http://schemas.openxmlformats.org/officeDocument/2006/relationships/slide" Target="/ppt/slides/slide3.xml" Id="R2b1bafb8718b4877" /><Relationship Type="http://schemas.openxmlformats.org/officeDocument/2006/relationships/slide" Target="/ppt/slides/slide4.xml" Id="R75a9ad8da9f94446" /><Relationship Type="http://schemas.openxmlformats.org/officeDocument/2006/relationships/slide" Target="/ppt/slides/slide5.xml" Id="Rad730176c78c4af2" /><Relationship Type="http://schemas.openxmlformats.org/officeDocument/2006/relationships/slide" Target="/ppt/slides/slide6.xml" Id="R745a5f5c3976416e" /><Relationship Type="http://schemas.openxmlformats.org/officeDocument/2006/relationships/slide" Target="/ppt/slides/slide7.xml" Id="Ra2731819fbe84559" /><Relationship Type="http://schemas.openxmlformats.org/officeDocument/2006/relationships/slide" Target="/ppt/slides/slide8.xml" Id="Rd7f9ea6b1d3242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bd606423cd40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41ec2732374917" /><Relationship Type="http://schemas.openxmlformats.org/officeDocument/2006/relationships/notesMaster" Target="/ppt/notesMasters/notesMaster1.xml" Id="R971d31b5ee4d41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8f2308225f43a3" /><Relationship Type="http://schemas.openxmlformats.org/officeDocument/2006/relationships/notesMaster" Target="/ppt/notesMasters/notesMaster1.xml" Id="Raccbe590649747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e788d4acd94ae7" /><Relationship Type="http://schemas.openxmlformats.org/officeDocument/2006/relationships/notesMaster" Target="/ppt/notesMasters/notesMaster1.xml" Id="R946dc2c784ff47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70f3d68335475f" /><Relationship Type="http://schemas.openxmlformats.org/officeDocument/2006/relationships/notesMaster" Target="/ppt/notesMasters/notesMaster1.xml" Id="R562db6353e2946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636448009142e7" /><Relationship Type="http://schemas.openxmlformats.org/officeDocument/2006/relationships/notesMaster" Target="/ppt/notesMasters/notesMaster1.xml" Id="Rab6769a050b6418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7c48e47efa4d1b" /><Relationship Type="http://schemas.openxmlformats.org/officeDocument/2006/relationships/notesMaster" Target="/ppt/notesMasters/notesMaster1.xml" Id="R0ba746180f9f43a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9ae9d3d0854292" /><Relationship Type="http://schemas.openxmlformats.org/officeDocument/2006/relationships/notesMaster" Target="/ppt/notesMasters/notesMaster1.xml" Id="Re9e78353d79b4a6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ac59e5098824f54" /><Relationship Type="http://schemas.openxmlformats.org/officeDocument/2006/relationships/notesMaster" Target="/ppt/notesMasters/notesMaster1.xml" Id="R6f8b224cc77346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module purpose and connect it to the current project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weeks7-8/index.html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learning sequence without giving check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weeks7-8/index.html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Establishing reference faces and marking accurately.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weeks7-8/index.html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Controlling approved cuts for rebate-and-housing features.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weeks7-8/index.html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Refining required rebates and housings.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weeks7-8/index.html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prompts for retrieval before students open the interactive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weeks7-8/index.html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an answer to a live student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weeks7-8/index.html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complete the exit ticket, then return to the website to save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weeks7-8/index.html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36e8349b8c42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c5b4f5acab4956" /><Relationship Type="http://schemas.openxmlformats.org/officeDocument/2006/relationships/slideLayout" Target="/ppt/slideLayouts/slideLayout1.xml" Id="R21a4cd7c184f42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a4cd7c184f42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00034b414748e6" /><Relationship Type="http://schemas.openxmlformats.org/officeDocument/2006/relationships/image" Target="/ppt/media/image.png" Id="R8dec72077c7f4129" /><Relationship Type="http://schemas.openxmlformats.org/officeDocument/2006/relationships/notesSlide" Target="/ppt/notesSlides/notesSlide1.xml" Id="R74b1ec7cb31f43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556ee27078423a" /><Relationship Type="http://schemas.openxmlformats.org/officeDocument/2006/relationships/notesSlide" Target="/ppt/notesSlides/notesSlide2.xml" Id="Raa7719b732c047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4c097e59d04a28" /><Relationship Type="http://schemas.openxmlformats.org/officeDocument/2006/relationships/notesSlide" Target="/ppt/notesSlides/notesSlide3.xml" Id="R7167ed853a3242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b79ada561b498f" /><Relationship Type="http://schemas.openxmlformats.org/officeDocument/2006/relationships/notesSlide" Target="/ppt/notesSlides/notesSlide4.xml" Id="Rd1b949226fed4e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d242a2e526465b" /><Relationship Type="http://schemas.openxmlformats.org/officeDocument/2006/relationships/notesSlide" Target="/ppt/notesSlides/notesSlide5.xml" Id="Re8cf952661394a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c02a54b3e6420a" /><Relationship Type="http://schemas.openxmlformats.org/officeDocument/2006/relationships/notesSlide" Target="/ppt/notesSlides/notesSlide6.xml" Id="R1e1b7ff6628246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2af9983d5d46d6" /><Relationship Type="http://schemas.openxmlformats.org/officeDocument/2006/relationships/notesSlide" Target="/ppt/notesSlides/notesSlide7.xml" Id="Ra483908ccee94e9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1614c355194f25" /><Relationship Type="http://schemas.openxmlformats.org/officeDocument/2006/relationships/notesSlide" Target="/ppt/notesSlides/notesSlide8.xml" Id="R1d349e9579bc4e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406E32-96E6-4598-A5FA-82681683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325746-C034-4E30-A4E9-E30EAE4B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00D4FC-4B99-4352-B972-3B3835E7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7–8  ·  1/8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21C39A-91A2-4676-BB1D-51B473C7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19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3D31"/>
                </a:solidFill>
              </a:defRPr>
            </a:pPr>
            <a:r>
              <a:rPr sz="4500" b="1">
                <a:solidFill>
                  <a:srgbClr val="173D31"/>
                </a:solidFill>
              </a:rPr>
              <a:t>Accurate marking and hand-tool control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626C9B-76C7-41B3-872E-16ED81BD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35A53"/>
                </a:solidFill>
              </a:defRPr>
            </a:pPr>
            <a:r>
              <a:rPr sz="1800">
                <a:solidFill>
                  <a:srgbClr val="435A53"/>
                </a:solidFill>
              </a:rPr>
              <a:t>Weeks 7–8 guided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B3E6B9-5600-48E8-91ED-CDA66915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1515A3-AC3F-46C5-8A76-F52C8FA6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Read the theory. Check your understanding. Save useful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491DD1-39F3-473B-9B46-AFE3F52CF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3981450" cy="4762500"/>
          </a:xfrm>
          <a:prstGeom xmlns:a="http://schemas.openxmlformats.org/drawingml/2006/main" prst="roundRect">
            <a:avLst>
              <a:gd name="adj" fmla="val 4785"/>
            </a:avLst>
          </a:prstGeom>
          <a:solidFill xmlns:a="http://schemas.openxmlformats.org/drawingml/2006/main">
            <a:srgbClr val="F2D4B8"/>
          </a:solidFill>
          <a:ln xmlns:a="http://schemas.openxmlformats.org/drawingml/2006/main" w="0">
            <a:solidFill>
              <a:srgbClr val="F2D4B8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ec72077c7f4129"/>
          <a:stretch xmlns:a="http://schemas.openxmlformats.org/drawingml/2006/main"/>
        </p:blipFill>
        <p:spPr>
          <a:xfrm xmlns:a="http://schemas.openxmlformats.org/drawingml/2006/main">
            <a:off x="7658100" y="2326521"/>
            <a:ext cx="3714750" cy="2090658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</p:spTree>
    <p:extLst>
      <p:ext uri="{BB962C8B-B14F-4D97-AF65-F5344CB8AC3E}">
        <p14:creationId xmlns:p14="http://schemas.microsoft.com/office/powerpoint/2010/main" val="2068364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F4801F-3081-44A4-BF99-F5FAAF4D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8FDFD3-03BB-4EA0-B620-8548D4B7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E9A195-B1A3-400D-86A4-C6C911A5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7–8  ·  2/8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9F6FAB-F6F4-4146-84E1-D8B1E621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What you will 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4278B7-D3EB-4474-9D26-7F31847A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35A53"/>
                </a:solidFill>
              </a:defRPr>
            </a:pPr>
            <a:r>
              <a:rPr sz="1650">
                <a:solidFill>
                  <a:srgbClr val="435A53"/>
                </a:solidFill>
              </a:rPr>
              <a:t>Use the module in order. Each idea supports the checks and written evidence that follow.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87CDC6-1191-442E-BE0B-E6E001CE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EB5D34-C772-4324-9BD8-ED105B62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C9102A-0A23-4BF1-9EAB-A3421D2F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81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Establishing reference faces and marking accurately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96F641-BF4A-4944-8DA6-2E9525C1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0819FF-E0BF-4EC7-B5CD-21111CDD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1261EE-9177-4D73-BEC7-152E4930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909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Controlling approved cuts for rebate-and-housing features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5E6BF3-2BFE-4C84-8342-31DDE90F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A28812-9CA8-4010-844F-FB54AE5D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95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049E8A-91B7-4DBA-BD50-D02BB942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005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Refining required rebates and housings</a:t>
            </a:r>
          </a:p>
        </p:txBody>
      </p:sp>
    </p:spTree>
    <p:extLst>
      <p:ext uri="{BB962C8B-B14F-4D97-AF65-F5344CB8AC3E}">
        <p14:creationId xmlns:p14="http://schemas.microsoft.com/office/powerpoint/2010/main" val="18274116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60AF3C-28D9-489A-8F1C-8AC089FC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9E87D7-1849-4227-B6F5-EE899E5F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35BAC7-0B87-487C-82D6-F2DAA5D7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7–8  ·  3/8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0CF482-29C0-4B7A-9A2C-35FA4B7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Establishing reference faces and marking accurately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894E5F-4D5D-4EAE-B278-9FEB912B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07AD23-9447-46FE-8B66-45896159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EB8026-B7D6-4F3B-AD43-9DC53404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Accurate Carry-All components begin with consistent reference surfaces.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EEBFEA-5D51-42AF-A381-63B3A2E3D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7DF922-2595-49F4-8C1D-7277748F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D20140-63B3-4827-A747-A373A407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face side is the selected flat surface used as the main reference, while the face edge is a straight edge confirmed as square to it.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32F747-3D33-46D0-A166-3E9650D6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FD3DA6-F8E6-4DD4-98B7-E978BF0E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55691B-5FCE-43CF-80FE-29A65D68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These surfaces should be clearly marked and used whenever measurements or lines are transferred.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9512DB-5B90-4A45-B56F-6649DEA1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11432702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7945A4-1E85-4C68-ADBA-CDC62E52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8FD7E0-EE0E-46F2-8754-AE898775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6BC9B8-87EF-429D-9450-B9B4594F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7–8  ·  4/8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299D47-5B66-4622-B7EE-926D2F4B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Controlling approved cuts for rebate-and-housing features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21AF82-1578-4E65-BCD9-3AADF17F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565616-39B5-4829-BA16-B727DF05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4309DA-0ABB-4D24-92A2-1A26EB5D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 tenon saw can be used for controlled, accurate cuts when forming approved Carry-All joint features.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84F407-CBD9-4056-867F-AA3CEA59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7879CC-FCD2-4155-867A-F257A051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FAE8D7-1E5F-4683-A859-B85BFE7BC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Accuracy begins before the saw touches the timber.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EE0AC-8AD0-4496-82BC-2190F5A5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FB8E95-7880-4C8C-8CAA-49202D31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300116-656C-4DD1-81FF-BCF09AFD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component must be correctly identified, its reference faces and waste areas clearly marked, and the layout checked against the working drawing and teacher…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FDD92A-5F4D-4412-9F91-B496188F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12082234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68A2B7-D106-4B08-A9F5-C25E43DA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A16D89-4754-4BCA-985A-2112E5F5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AF2802-6D74-461C-9221-593D8DC5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7–8  ·  5/8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987E27-D56F-4936-990E-EB9DA2E7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Refining required rebates and housings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9DC5D1-3FE3-40C4-8BA0-2EBAC64D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5EB104-6671-4322-93DB-246BB9B9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1D1551-8261-4770-9A92-5A4EE273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Chiselling may be used through the teacher-approved process to refine required Carry-All rebate and housing surfaces after the main waste has been removed.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822B12-9A96-4D9A-81DD-DE5D1AEE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7CC73D-E5D9-47FF-A3CD-92A9D67E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9669D4-4FC5-41C3-84BE-686B097B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aim is not to reshape the feature quickly, but to bring uneven or remaining material carefully towards the verified layout line.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23C6BF-8134-4DE9-92E0-8792C005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72BB66-482A-4187-8857-258E976D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A4C8F4-9FDD-42A2-96BB-0E974837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This process is often called paring to the line 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6D9CCE-AE6E-4F8A-B6FA-6FBE74C3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20343751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34417D-5447-48D7-9E57-7C1E8FE0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07771E-D840-4E8C-8466-DF621426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B61751-59A3-42D1-B43D-25DA6529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7–8  ·  6/8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D004FF-BC6E-46E4-B961-8950FA59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Pause and check your understanding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E24F0E-74C5-4A13-BF76-739CC698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C26A32"/>
                </a:solidFill>
              </a:defRPr>
            </a:pPr>
            <a:r>
              <a:rPr sz="1575" b="1">
                <a:solidFill>
                  <a:srgbClr val="C26A32"/>
                </a:solidFill>
              </a:rPr>
              <a:t>What is the controlling idea?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C7AABD-EFC4-47EE-8FEE-6F888143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Establishing reference faces and marking accurately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ABC13F-94DA-4DDD-A479-286D6B07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C26A32"/>
                </a:solidFill>
              </a:defRPr>
            </a:pPr>
            <a:r>
              <a:rPr sz="1575" b="1">
                <a:solidFill>
                  <a:srgbClr val="C26A32"/>
                </a:solidFill>
              </a:rPr>
              <a:t>Which check would prevent a mistake?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F01D3B-75EC-48BC-B7D1-189E1B13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Controlling approved cuts for rebate-and-housing features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DD2340-98AC-4F14-89E5-8285E8E3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C26A32"/>
                </a:solidFill>
              </a:defRPr>
            </a:pPr>
            <a:r>
              <a:rPr sz="1575" b="1">
                <a:solidFill>
                  <a:srgbClr val="C26A32"/>
                </a:solidFill>
              </a:rPr>
              <a:t>What evidence would show your decision?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DBCE82-B007-48B5-BD0C-1F25461F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Refining required rebates and housings</a:t>
            </a:r>
          </a:p>
        </p:txBody>
      </p:sp>
    </p:spTree>
    <p:extLst>
      <p:ext uri="{BB962C8B-B14F-4D97-AF65-F5344CB8AC3E}">
        <p14:creationId xmlns:p14="http://schemas.microsoft.com/office/powerpoint/2010/main" val="9025280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9AC200-19BE-47EC-AEF7-7C7989EA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5887E8-18B8-4E93-B507-E29B2CF2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98F40E-8066-4C77-AB2F-66FFE756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7–8  ·  7/8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14F2B2-8CDD-4876-B49F-A3D9B477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Build a stronger written 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12C3FF-0B03-49A5-A640-569C7A98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26A32"/>
                </a:solidFill>
              </a:defRPr>
            </a:pPr>
            <a:r>
              <a:rPr sz="2100" b="1">
                <a:solidFill>
                  <a:srgbClr val="C26A32"/>
                </a:solidFill>
              </a:rPr>
              <a:t>Read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C48FED-342B-4598-99A7-406C142B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050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Underline the command word and the project detail.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F2E03D-D449-44D5-A085-FF3369C9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2D4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01F42F-44AF-45BE-B2E2-C2147EE6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26A32"/>
                </a:solidFill>
              </a:defRPr>
            </a:pPr>
            <a:r>
              <a:rPr sz="2100" b="1">
                <a:solidFill>
                  <a:srgbClr val="C26A32"/>
                </a:solidFill>
              </a:rPr>
              <a:t>Select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802E36-B3FA-42D6-9EF9-A7B1F3B0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527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Return to the exact theory section and choose relevant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E01DE9-271C-4753-9881-F7A41C21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2D4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433235-4A26-4441-ABD5-AD1A4D9F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26A32"/>
                </a:solidFill>
              </a:defRPr>
            </a:pPr>
            <a:r>
              <a:rPr sz="2100" b="1">
                <a:solidFill>
                  <a:srgbClr val="C26A32"/>
                </a:solidFill>
              </a:rPr>
              <a:t>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7BCF4B-151F-436B-BC92-0DAD24AF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005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Connect the decision, reason and likely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5B2A0E-AE1D-45DE-9FF5-BF26F4B3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2D4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D3B819-1488-4E60-BE7D-94323D4B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26A32"/>
                </a:solidFill>
              </a:defRPr>
            </a:pPr>
            <a:r>
              <a:rPr sz="2100" b="1">
                <a:solidFill>
                  <a:srgbClr val="C26A32"/>
                </a:solidFill>
              </a:rPr>
              <a:t>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77D0F8-6F59-4824-91D3-ACFD1861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482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Make sure the response answers the question and stays source-accurate.</a:t>
            </a:r>
          </a:p>
        </p:txBody>
      </p:sp>
    </p:spTree>
    <p:extLst>
      <p:ext uri="{BB962C8B-B14F-4D97-AF65-F5344CB8AC3E}">
        <p14:creationId xmlns:p14="http://schemas.microsoft.com/office/powerpoint/2010/main" val="17301297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04A3C7-B9B8-4005-B19B-B83A5F5D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03637C-ECCE-4337-B17B-76281EA7A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8C5EAE-B469-489A-AD6A-0115C00E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7–8  ·  8/8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F53C42-28B3-4056-9DCE-FAD406D9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666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3D31"/>
                </a:solidFill>
              </a:defRPr>
            </a:pPr>
            <a:r>
              <a:rPr sz="4500" b="1">
                <a:solidFill>
                  <a:srgbClr val="173D31"/>
                </a:solidFill>
              </a:rPr>
              <a:t>Exit ticket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9897BD-4E45-4DFC-A51F-239F2DA0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35A53"/>
                </a:solidFill>
              </a:defRPr>
            </a:pPr>
            <a:r>
              <a:rPr sz="1725">
                <a:solidFill>
                  <a:srgbClr val="435A53"/>
                </a:solidFill>
              </a:rPr>
              <a:t>Before you finish this module, answer these in your own words: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181619-FE42-4E07-8A25-89D7D2C3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4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7100EF-2A7B-478B-9AA3-109DFA8A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1. One idea I can now explain: Establishing reference faces and marking accurately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B88526-A31F-4E65-AA94-3B9031DE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4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C78A88-FC89-475F-9B4E-493EDBD2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2. One practical check I must remember before the next stage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24314E-31D8-4996-9B1D-D225FF79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4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4D1DD2-B009-47BA-BAE5-46DE4D98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3. One piece of evidence I should save or improve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EB15DC-4A65-444E-A1E3-1C1FF30D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Return to the module page to complete the checks, written response and folio evidence.</a:t>
            </a:r>
          </a:p>
        </p:txBody>
      </p:sp>
    </p:spTree>
    <p:extLst>
      <p:ext uri="{BB962C8B-B14F-4D97-AF65-F5344CB8AC3E}">
        <p14:creationId xmlns:p14="http://schemas.microsoft.com/office/powerpoint/2010/main" val="8347043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2026-08-16T02:12:28.1100000Z</dcterms:created>
  <dcterms:modified xsi:type="dcterms:W3CDTF">2026-08-16T02:12:28.1100000Z</dcterms:modified>
</coreProperties>
</file>
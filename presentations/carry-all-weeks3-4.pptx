
<file path=[Content_Types].xml><?xml version="1.0" encoding="utf-8"?>
<Types xmlns="http://schemas.openxmlformats.org/package/2006/content-types">
  <Default Extension="xml" ContentType="application/vnd.openxmlformats-package.core-properties+xml"/>
  <Default Extension="png" ContentType="image/png"/>
  <Default Extension="rels" ContentType="application/vnd.openxmlformats-package.relationships+xml"/>
  <Override PartName="/docProps/app.xml" ContentType="application/vnd.openxmlformats-officedocument.extended-properties+xml"/>
  <Override PartName="/ppt/presentation.xml" ContentType="application/vnd.openxmlformats-officedocument.presentationml.presentation.main+xml"/>
  <Override PartName="/ppt/theme/theme1.xml" ContentType="application/vnd.openxmlformats-officedocument.theme+xml"/>
  <Override PartName="/ppt/slideMasters/slideMaster1.xml" ContentType="application/vnd.openxmlformats-officedocument.presentationml.slideMaster+xml"/>
  <Override PartName="/ppt/slideMasters/theme/theme2.xml" ContentType="application/vnd.openxmlformats-officedocument.theme+xml"/>
  <Override PartName="/ppt/slideLayouts/slideLayout1.xml" ContentType="application/vnd.openxmlformats-officedocument.presentationml.slideLayout+xml"/>
  <Override PartName="/ppt/notesMasters/notesMaster1.xml" ContentType="application/vnd.openxmlformats-officedocument.presentationml.notesMaster+xml"/>
  <Override PartName="/ppt/notesMasters/theme/theme3.xml" ContentType="application/vnd.openxmlformats-officedocument.theme+xml"/>
  <Override PartName="/ppt/presProps.xml" ContentType="application/vnd.openxmlformats-officedocument.presentationml.presProps+xml"/>
  <Override PartName="/ppt/tableStyles.xml" ContentType="application/vnd.openxmlformats-officedocument.presentationml.tableStyles+xml"/>
  <Override PartName="/ppt/slides/slide1.xml" ContentType="application/vnd.openxmlformats-officedocument.presentationml.slide+xml"/>
  <Override PartName="/ppt/notesSlides/notesSlide1.xml" ContentType="application/vnd.openxmlformats-officedocument.presentationml.notesSlide+xml"/>
  <Override PartName="/ppt/slides/slide2.xml" ContentType="application/vnd.openxmlformats-officedocument.presentationml.slide+xml"/>
  <Override PartName="/ppt/notesSlides/notesSlide2.xml" ContentType="application/vnd.openxmlformats-officedocument.presentationml.notesSlide+xml"/>
  <Override PartName="/ppt/slides/slide3.xml" ContentType="application/vnd.openxmlformats-officedocument.presentationml.slide+xml"/>
  <Override PartName="/ppt/notesSlides/notesSlide3.xml" ContentType="application/vnd.openxmlformats-officedocument.presentationml.notesSlide+xml"/>
  <Override PartName="/ppt/slides/slide4.xml" ContentType="application/vnd.openxmlformats-officedocument.presentationml.slide+xml"/>
  <Override PartName="/ppt/notesSlides/notesSlide4.xml" ContentType="application/vnd.openxmlformats-officedocument.presentationml.notesSlide+xml"/>
  <Override PartName="/ppt/slides/slide5.xml" ContentType="application/vnd.openxmlformats-officedocument.presentationml.slide+xml"/>
  <Override PartName="/ppt/notesSlides/notesSlide5.xml" ContentType="application/vnd.openxmlformats-officedocument.presentationml.notesSlide+xml"/>
  <Override PartName="/ppt/slides/slide6.xml" ContentType="application/vnd.openxmlformats-officedocument.presentationml.slide+xml"/>
  <Override PartName="/ppt/notesSlides/notesSlide6.xml" ContentType="application/vnd.openxmlformats-officedocument.presentationml.notesSlide+xml"/>
  <Override PartName="/ppt/slides/slide7.xml" ContentType="application/vnd.openxmlformats-officedocument.presentationml.slide+xml"/>
  <Override PartName="/ppt/notesSlides/notesSlide7.xml" ContentType="application/vnd.openxmlformats-officedocument.presentationml.notesSlide+xml"/>
  <Override PartName="/ppt/slides/slide8.xml" ContentType="application/vnd.openxmlformats-officedocument.presentationml.slide+xml"/>
  <Override PartName="/ppt/notesSlides/notesSlide8.xml" ContentType="application/vnd.openxmlformats-officedocument.presentationml.notesSlide+xml"/>
</Types>
</file>

<file path=_rels/.rels>&#65279;<?xml version="1.0" encoding="utf-8"?><Relationships xmlns="http://schemas.openxmlformats.org/package/2006/relationships"><Relationship Type="http://schemas.openxmlformats.org/package/2006/relationships/metadata/core-properties" Target="/docProps/core.xml" Id="R9ce0cadb45634bde" /><Relationship Type="http://schemas.openxmlformats.org/officeDocument/2006/relationships/extended-properties" Target="/docProps/app.xml" Id="Rb20b30f68a1f41d0" /><Relationship Type="http://schemas.openxmlformats.org/officeDocument/2006/relationships/officeDocument" Target="/ppt/presentation.xml" Id="R08d6b91117754ab6" /></Relationships>
</file>

<file path=ppt/presentation.xml><?xml version="1.0" encoding="utf-8"?>
<p:presentation xmlns:p="http://schemas.openxmlformats.org/presentationml/2006/main">
  <p:sldMasterIdLst>
    <p:sldMasterId xmlns:r="http://schemas.openxmlformats.org/officeDocument/2006/relationships" id="2147483648" r:id="R9b15df2766094731"/>
  </p:sldMasterIdLst>
  <p:notesMasterIdLst>
    <p:notesMasterId xmlns:r="http://schemas.openxmlformats.org/officeDocument/2006/relationships" r:id="R87ebdc9dd8914652"/>
  </p:notesMasterIdLst>
  <p:sldIdLst>
    <p:sldId xmlns:r="http://schemas.openxmlformats.org/officeDocument/2006/relationships" id="256" r:id="R4189ed0888624226"/>
    <p:sldId xmlns:r="http://schemas.openxmlformats.org/officeDocument/2006/relationships" id="257" r:id="R37628431f6ba4a2d"/>
    <p:sldId xmlns:r="http://schemas.openxmlformats.org/officeDocument/2006/relationships" id="258" r:id="Rb6f0ee36e0204bac"/>
    <p:sldId xmlns:r="http://schemas.openxmlformats.org/officeDocument/2006/relationships" id="259" r:id="Rf2f7455d0456471f"/>
    <p:sldId xmlns:r="http://schemas.openxmlformats.org/officeDocument/2006/relationships" id="260" r:id="R2a8ece4f2e854ffa"/>
    <p:sldId xmlns:r="http://schemas.openxmlformats.org/officeDocument/2006/relationships" id="261" r:id="R0665a1c0c8df4bc3"/>
    <p:sldId xmlns:r="http://schemas.openxmlformats.org/officeDocument/2006/relationships" id="262" r:id="Rdf222f01a5ef40e6"/>
    <p:sldId xmlns:r="http://schemas.openxmlformats.org/officeDocument/2006/relationships" id="263" r:id="R52b1c5fc19ab4be4"/>
  </p:sldIdLst>
  <p:sldSz cx="12192000" cy="6858000"/>
  <p:notesSz cx="6858000" cy="9144000"/>
</p:presentation>
</file>

<file path=ppt/presProps.xml><?xml version="1.0" encoding="utf-8"?>
<p:presentationPr xmlns:p="http://schemas.openxmlformats.org/presentationml/2006/main">
  <p:extLst>
    <p:ext xmlns:p14="http://schemas.microsoft.com/office/powerpoint/2010/main" uri="{E76CE94A-603C-4142-B9EB-6D1370010A27}">
      <p14:discardImageEditData val="0"/>
    </p:ext>
    <p:ext xmlns:p14="http://schemas.microsoft.com/office/powerpoint/2010/main" uri="{D31A062A-798A-4329-ABDD-BBA856620510}">
      <p14:defaultImageDpi val="32767"/>
    </p:ext>
    <p:ext xmlns:p15="http://schemas.microsoft.com/office/powerpoint/2012/main" uri="{FD5EFAAD-0ECE-453E-9831-46B23BE46B34}">
      <p15:chartTrackingRefBased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_rels/presentation.xml.rels>&#65279;<?xml version="1.0" encoding="utf-8"?><Relationships xmlns="http://schemas.openxmlformats.org/package/2006/relationships"><Relationship Type="http://schemas.openxmlformats.org/officeDocument/2006/relationships/theme" Target="/ppt/theme/theme1.xml" Id="R5bf6f67fd2a64166" /><Relationship Type="http://schemas.openxmlformats.org/officeDocument/2006/relationships/slideMaster" Target="/ppt/slideMasters/slideMaster1.xml" Id="R9b15df2766094731" /><Relationship Type="http://schemas.openxmlformats.org/officeDocument/2006/relationships/notesMaster" Target="/ppt/notesMasters/notesMaster1.xml" Id="R87ebdc9dd8914652" /><Relationship Type="http://schemas.openxmlformats.org/officeDocument/2006/relationships/presProps" Target="/ppt/presProps.xml" Id="R736c3ff6863140af" /><Relationship Type="http://schemas.openxmlformats.org/officeDocument/2006/relationships/tableStyles" Target="/ppt/tableStyles.xml" Id="R365e04cbc06046fd" /><Relationship Type="http://schemas.openxmlformats.org/officeDocument/2006/relationships/slide" Target="/ppt/slides/slide1.xml" Id="R4189ed0888624226" /><Relationship Type="http://schemas.openxmlformats.org/officeDocument/2006/relationships/slide" Target="/ppt/slides/slide2.xml" Id="R37628431f6ba4a2d" /><Relationship Type="http://schemas.openxmlformats.org/officeDocument/2006/relationships/slide" Target="/ppt/slides/slide3.xml" Id="Rb6f0ee36e0204bac" /><Relationship Type="http://schemas.openxmlformats.org/officeDocument/2006/relationships/slide" Target="/ppt/slides/slide4.xml" Id="Rf2f7455d0456471f" /><Relationship Type="http://schemas.openxmlformats.org/officeDocument/2006/relationships/slide" Target="/ppt/slides/slide5.xml" Id="R2a8ece4f2e854ffa" /><Relationship Type="http://schemas.openxmlformats.org/officeDocument/2006/relationships/slide" Target="/ppt/slides/slide6.xml" Id="R0665a1c0c8df4bc3" /><Relationship Type="http://schemas.openxmlformats.org/officeDocument/2006/relationships/slide" Target="/ppt/slides/slide7.xml" Id="Rdf222f01a5ef40e6" /><Relationship Type="http://schemas.openxmlformats.org/officeDocument/2006/relationships/slide" Target="/ppt/slides/slide8.xml" Id="R52b1c5fc19ab4be4" /></Relationships>
</file>

<file path=ppt/notesMasters/_rels/notesMaster1.xml.rels>&#65279;<?xml version="1.0" encoding="utf-8"?><Relationships xmlns="http://schemas.openxmlformats.org/package/2006/relationships"><Relationship Type="http://schemas.openxmlformats.org/officeDocument/2006/relationships/theme" Target="/ppt/notesMasters/theme/theme3.xml" Id="Rf3d6d07013ea47d7" /></Relationships>
</file>

<file path=ppt/notesMasters/notesMaster1.xml><?xml version="1.0" encoding="utf-8"?>
<p:notesMaster xmlns:p="http://schemas.openxmlformats.org/presentationml/2006/main">
  <p:cSld>
    <p:bg>
      <p:bgRef idx="1001">
        <a:schemeClr xmlns:a="http://schemas.openxmlformats.org/drawingml/2006/main" val="bg1"/>
      </p:bgRef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Header Placeholder"/>
          <p:cNvSpPr/>
          <p:nvPr>
            <p:ph type="hdr" sz="quarter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3" name="Date Placeholder"/>
          <p:cNvSpPr/>
          <p:nvPr>
            <p:ph type="dt" sz="quarter" idx="1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Image Placeholder"/>
          <p:cNvSpPr/>
          <p:nvPr>
            <p:ph type="sldImg" idx="2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5" name="Notes Placeholder"/>
          <p:cNvSpPr/>
          <p:nvPr>
            <p:ph type="body" sz="quarter" idx="3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6" name="Footer Placeholder"/>
          <p:cNvSpPr/>
          <p:nvPr>
            <p:ph type="ftr" sz="quarter" idx="4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7" name="Slide Number Placeholder"/>
          <p:cNvSpPr/>
          <p:nvPr>
            <p:ph type="sldNum" sz="quarter" idx="5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 bg1="lt1" tx1="dk1" bg2="lt2" tx2="dk2" accent1="accent1" accent2="accent2" accent3="accent3" accent4="accent4" accent5="accent5" accent6="accent6" hlink="hlink" folHlink="folHlink"/>
  <p:notesStyle>
    <a:lvl1pPr xmlns:a="http://schemas.openxmlformats.org/drawingml/2006/main" marL="0" algn="l" defTabSz="914400" rtl="0" eaLnBrk="1" latinLnBrk="0" hangingPunct="1">
      <a:defRPr sz="1200" kern="1200"/>
    </a:lvl1pPr>
  </p:notesStyle>
</p:notesMaster>
</file>

<file path=ppt/notesMasters/theme/theme3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Calibri Light"/>
        <a:ea typeface="Calibri Light"/>
        <a:cs typeface="Calibri Light"/>
      </a:majorFont>
      <a:minorFont>
        <a:latin typeface="Calibri"/>
        <a:ea typeface="Calibri"/>
        <a:cs typeface="Calibri"/>
      </a:minorFont>
    </a:fontScheme>
    <a:fmtScheme name="ChatGPT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ppt/notesSlides/_rels/notesSlide1.xml.rels>&#65279;<?xml version="1.0" encoding="utf-8"?><Relationships xmlns="http://schemas.openxmlformats.org/package/2006/relationships"><Relationship Type="http://schemas.openxmlformats.org/officeDocument/2006/relationships/slide" Target="/ppt/slides/slide1.xml" Id="R6162f78f0d4f48d7" /><Relationship Type="http://schemas.openxmlformats.org/officeDocument/2006/relationships/notesMaster" Target="/ppt/notesMasters/notesMaster1.xml" Id="R8d5f371353d347cf" /></Relationships>
</file>

<file path=ppt/notesSlides/_rels/notesSlide2.xml.rels>&#65279;<?xml version="1.0" encoding="utf-8"?><Relationships xmlns="http://schemas.openxmlformats.org/package/2006/relationships"><Relationship Type="http://schemas.openxmlformats.org/officeDocument/2006/relationships/slide" Target="/ppt/slides/slide2.xml" Id="R7edd736bda0b4b48" /><Relationship Type="http://schemas.openxmlformats.org/officeDocument/2006/relationships/notesMaster" Target="/ppt/notesMasters/notesMaster1.xml" Id="R361f7bc531f448da" /></Relationships>
</file>

<file path=ppt/notesSlides/_rels/notesSlide3.xml.rels>&#65279;<?xml version="1.0" encoding="utf-8"?><Relationships xmlns="http://schemas.openxmlformats.org/package/2006/relationships"><Relationship Type="http://schemas.openxmlformats.org/officeDocument/2006/relationships/slide" Target="/ppt/slides/slide3.xml" Id="R201eab05222d47c2" /><Relationship Type="http://schemas.openxmlformats.org/officeDocument/2006/relationships/notesMaster" Target="/ppt/notesMasters/notesMaster1.xml" Id="R481f5db20bda4239" /></Relationships>
</file>

<file path=ppt/notesSlides/_rels/notesSlide4.xml.rels>&#65279;<?xml version="1.0" encoding="utf-8"?><Relationships xmlns="http://schemas.openxmlformats.org/package/2006/relationships"><Relationship Type="http://schemas.openxmlformats.org/officeDocument/2006/relationships/slide" Target="/ppt/slides/slide4.xml" Id="R90d279f90b97449d" /><Relationship Type="http://schemas.openxmlformats.org/officeDocument/2006/relationships/notesMaster" Target="/ppt/notesMasters/notesMaster1.xml" Id="R650be863889b495d" /></Relationships>
</file>

<file path=ppt/notesSlides/_rels/notesSlide5.xml.rels>&#65279;<?xml version="1.0" encoding="utf-8"?><Relationships xmlns="http://schemas.openxmlformats.org/package/2006/relationships"><Relationship Type="http://schemas.openxmlformats.org/officeDocument/2006/relationships/slide" Target="/ppt/slides/slide5.xml" Id="Rbf788c6c28334281" /><Relationship Type="http://schemas.openxmlformats.org/officeDocument/2006/relationships/notesMaster" Target="/ppt/notesMasters/notesMaster1.xml" Id="Rf4a7ac81f7204d55" /></Relationships>
</file>

<file path=ppt/notesSlides/_rels/notesSlide6.xml.rels>&#65279;<?xml version="1.0" encoding="utf-8"?><Relationships xmlns="http://schemas.openxmlformats.org/package/2006/relationships"><Relationship Type="http://schemas.openxmlformats.org/officeDocument/2006/relationships/slide" Target="/ppt/slides/slide6.xml" Id="R16ef9f0106bd4119" /><Relationship Type="http://schemas.openxmlformats.org/officeDocument/2006/relationships/notesMaster" Target="/ppt/notesMasters/notesMaster1.xml" Id="Rbe1a0a0a678d4fec" /></Relationships>
</file>

<file path=ppt/notesSlides/_rels/notesSlide7.xml.rels>&#65279;<?xml version="1.0" encoding="utf-8"?><Relationships xmlns="http://schemas.openxmlformats.org/package/2006/relationships"><Relationship Type="http://schemas.openxmlformats.org/officeDocument/2006/relationships/slide" Target="/ppt/slides/slide7.xml" Id="Rfcbddd9320694cdb" /><Relationship Type="http://schemas.openxmlformats.org/officeDocument/2006/relationships/notesMaster" Target="/ppt/notesMasters/notesMaster1.xml" Id="R23af94e891f641bf" /></Relationships>
</file>

<file path=ppt/notesSlides/_rels/notesSlide8.xml.rels>&#65279;<?xml version="1.0" encoding="utf-8"?><Relationships xmlns="http://schemas.openxmlformats.org/package/2006/relationships"><Relationship Type="http://schemas.openxmlformats.org/officeDocument/2006/relationships/slide" Target="/ppt/slides/slide8.xml" Id="R00c8e9be68a740b6" /><Relationship Type="http://schemas.openxmlformats.org/officeDocument/2006/relationships/notesMaster" Target="/ppt/notesMasters/notesMaster1.xml" Id="Rb6c8faf2b1ff4eb7" /></Relationships>
</file>

<file path=ppt/notesSlides/notesSlide1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Introduce the module purpose and connect it to the current project stage.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[Sources]</a:t>
            </a:r>
          </a:p>
          <a:p xmlns:a="http://schemas.openxmlformats.org/drawingml/2006/main">
            <a:r>
              <a:t>- Authorised local course theory: weeks3-4/index.html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2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Preview the learning sequence without giving check answers.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[Sources]</a:t>
            </a:r>
          </a:p>
          <a:p xmlns:a="http://schemas.openxmlformats.org/drawingml/2006/main">
            <a:r>
              <a:t>- Authorised local course theory: weeks3-4/index.html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3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Teach the source-grounded theory for Selecting pine and plywood for the Carry-All.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[Sources]</a:t>
            </a:r>
          </a:p>
          <a:p xmlns:a="http://schemas.openxmlformats.org/drawingml/2006/main">
            <a:r>
              <a:t>- Authorised local course theory: weeks3-4/index.html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4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Teach the source-grounded theory for Learning respectfully from Aboriginal and Torres Strait Islander timber technologies.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[Sources]</a:t>
            </a:r>
          </a:p>
          <a:p xmlns:a="http://schemas.openxmlformats.org/drawingml/2006/main">
            <a:r>
              <a:t>- Authorised local course theory: weeks3-4/index.html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5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Teach the source-grounded theory for Using timber responsibly and reducing project waste.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[Sources]</a:t>
            </a:r>
          </a:p>
          <a:p xmlns:a="http://schemas.openxmlformats.org/drawingml/2006/main">
            <a:r>
              <a:t>- Authorised local course theory: weeks3-4/index.html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6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Use these prompts for retrieval before students open the interactive checks.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[Sources]</a:t>
            </a:r>
          </a:p>
          <a:p xmlns:a="http://schemas.openxmlformats.org/drawingml/2006/main">
            <a:r>
              <a:t>- Authorised local course theory: weeks3-4/index.html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7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Model the response process without supplying an answer to a live student question.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[Sources]</a:t>
            </a:r>
          </a:p>
          <a:p xmlns:a="http://schemas.openxmlformats.org/drawingml/2006/main">
            <a:r>
              <a:t>- Authorised local course theory: weeks3-4/index.html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8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Students complete the exit ticket, then return to the website to save evidence.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[Sources]</a:t>
            </a:r>
          </a:p>
          <a:p xmlns:a="http://schemas.openxmlformats.org/drawingml/2006/main">
            <a:r>
              <a:t>- Authorised local course theory: weeks3-4/index.html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slideLayouts/_rels/slideLayout1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7698da3f78b94e17" /></Relationships>
</file>

<file path=ppt/slideLayouts/slideLayout1.xml><?xml version="1.0" encoding="utf-8"?>
<p:sldLayout xmlns:p="http://schemas.openxmlformats.org/presentationml/2006/main" type="title">
  <p:cSld name="Title Slide">
    <p:spTree>
      <p:nvGrpSpPr>
        <p:cNvPr id="1" name=""/>
        <p:cNvGrpSpPr/>
        <p:nvPr/>
      </p:nvGrpSpPr>
      <p:grpSpPr>
        <a:xfrm xmlns:a="http://schemas.openxmlformats.org/drawingml/2006/main"/>
      </p:grpSpPr>
    </p:spTree>
  </p:cSld>
</p:sldLayout>
</file>

<file path=ppt/slideMasters/_rels/slideMaster1.xml.rels>&#65279;<?xml version="1.0" encoding="utf-8"?><Relationships xmlns="http://schemas.openxmlformats.org/package/2006/relationships"><Relationship Type="http://schemas.openxmlformats.org/officeDocument/2006/relationships/theme" Target="/ppt/slideMasters/theme/theme2.xml" Id="R50d6f05a6f724834" /><Relationship Type="http://schemas.openxmlformats.org/officeDocument/2006/relationships/slideLayout" Target="/ppt/slideLayouts/slideLayout1.xml" Id="R771fe5c3bb974373" /></Relationships>
</file>

<file path=ppt/slideMasters/slideMaster1.xml><?xml version="1.0" encoding="utf-8"?>
<p:sldMaster xmlns:p="http://schemas.openxmlformats.org/presentationml/2006/main">
  <p:cSld name="Master">
    <p:bg>
      <p:bgRef idx="1001">
        <a:schemeClr xmlns:a="http://schemas.openxmlformats.org/drawingml/2006/main" val="bg1"/>
      </p:bgRef>
    </p:bg>
    <p:spTree>
      <p:nvGrpSpPr>
        <p:cNvPr id="1" name=""/>
        <p:cNvGrpSpPr/>
        <p:nvPr/>
      </p:nvGrpSpPr>
      <p:grpSpPr>
        <a:xfrm xmlns:a="http://schemas.openxmlformats.org/drawingml/2006/main"/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xmlns:r="http://schemas.openxmlformats.org/officeDocument/2006/relationships" id="2147483649" r:id="R771fe5c3bb974373"/>
  </p:sldLayoutIdLst>
  <p:txStyles>
    <p:titleStyle>
      <a:lvl1pPr xmlns:a="http://schemas.openxmlformats.org/drawingml/2006/main" algn="l">
        <a:lnSpc>
          <a:spcPct val="90000"/>
        </a:lnSpc>
        <a:spcBef>
          <a:spcPts val="0"/>
        </a:spcBef>
        <a:buNone/>
        <a:defRPr sz="4400">
          <a:solidFill>
            <a:schemeClr val="tx1"/>
          </a:solidFill>
          <a:latin typeface="+mj-lt"/>
          <a:ea typeface="+mj-lt"/>
          <a:cs typeface="+mj-lt"/>
        </a:defRPr>
      </a:lvl1pPr>
    </p:titleStyle>
    <p:bodyStyle>
      <a:lvl1pPr xmlns:a="http://schemas.openxmlformats.org/drawingml/2006/main" marL="228600" indent="-228600" algn="l">
        <a:lnSpc>
          <a:spcPct val="90000"/>
        </a:lnSpc>
        <a:spcBef>
          <a:spcPts val="1000"/>
        </a:spcBef>
        <a:buChar char="•"/>
        <a:defRPr sz="2800">
          <a:solidFill>
            <a:schemeClr val="tx1"/>
          </a:solidFill>
          <a:latin typeface="+mn-lt"/>
          <a:ea typeface="+mn-lt"/>
          <a:cs typeface="+mn-lt"/>
        </a:defRPr>
      </a:lvl1pPr>
      <a:lvl2pPr xmlns:a="http://schemas.openxmlformats.org/drawingml/2006/main" marL="685800" indent="-228600" algn="l">
        <a:lnSpc>
          <a:spcPct val="90000"/>
        </a:lnSpc>
        <a:spcBef>
          <a:spcPts val="500"/>
        </a:spcBef>
        <a:buChar char="•"/>
        <a:defRPr sz="2400">
          <a:solidFill>
            <a:schemeClr val="tx1"/>
          </a:solidFill>
          <a:latin typeface="+mn-lt"/>
          <a:ea typeface="+mn-lt"/>
          <a:cs typeface="+mn-lt"/>
        </a:defRPr>
      </a:lvl2pPr>
      <a:lvl3pPr xmlns:a="http://schemas.openxmlformats.org/drawingml/2006/main" marL="1143000" indent="-228600" algn="l">
        <a:lnSpc>
          <a:spcPct val="90000"/>
        </a:lnSpc>
        <a:spcBef>
          <a:spcPts val="500"/>
        </a:spcBef>
        <a:buChar char="•"/>
        <a:defRPr sz="2000">
          <a:solidFill>
            <a:schemeClr val="tx1"/>
          </a:solidFill>
          <a:latin typeface="+mn-lt"/>
          <a:ea typeface="+mn-lt"/>
          <a:cs typeface="+mn-lt"/>
        </a:defRPr>
      </a:lvl3pPr>
      <a:lvl4pPr xmlns:a="http://schemas.openxmlformats.org/drawingml/2006/main" marL="16002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4pPr>
      <a:lvl5pPr xmlns:a="http://schemas.openxmlformats.org/drawingml/2006/main" marL="20574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5pPr>
      <a:lvl6pPr xmlns:a="http://schemas.openxmlformats.org/drawingml/2006/main" marL="25146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6pPr>
      <a:lvl7pPr xmlns:a="http://schemas.openxmlformats.org/drawingml/2006/main" marL="29718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7pPr>
      <a:lvl8pPr xmlns:a="http://schemas.openxmlformats.org/drawingml/2006/main" marL="34290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8pPr>
      <a:lvl9pPr xmlns:a="http://schemas.openxmlformats.org/drawingml/2006/main" marL="38862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9pPr>
    </p:bodyStyle>
    <p:otherStyle>
      <a:lvl1pPr xmlns:a="http://schemas.openxmlformats.org/drawingml/2006/main" marL="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1pPr>
      <a:lvl2pPr xmlns:a="http://schemas.openxmlformats.org/drawingml/2006/main" marL="4572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2pPr>
      <a:lvl3pPr xmlns:a="http://schemas.openxmlformats.org/drawingml/2006/main" marL="9144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3pPr>
      <a:lvl4pPr xmlns:a="http://schemas.openxmlformats.org/drawingml/2006/main" marL="13716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4pPr>
      <a:lvl5pPr xmlns:a="http://schemas.openxmlformats.org/drawingml/2006/main" marL="18288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5pPr>
      <a:lvl6pPr xmlns:a="http://schemas.openxmlformats.org/drawingml/2006/main" marL="22860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6pPr>
      <a:lvl7pPr xmlns:a="http://schemas.openxmlformats.org/drawingml/2006/main" marL="27432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7pPr>
      <a:lvl8pPr xmlns:a="http://schemas.openxmlformats.org/drawingml/2006/main" marL="32004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8pPr>
      <a:lvl9pPr xmlns:a="http://schemas.openxmlformats.org/drawingml/2006/main" marL="36576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9pPr>
    </p:otherStyle>
  </p:txStyles>
</p:sldMaster>
</file>

<file path=ppt/slideMasters/theme/theme2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Calibri Light"/>
        <a:ea typeface="Calibri Light"/>
        <a:cs typeface="Calibri Light"/>
      </a:majorFont>
      <a:minorFont>
        <a:latin typeface="Calibri"/>
        <a:ea typeface="Calibri"/>
        <a:cs typeface="Calibri"/>
      </a:minorFont>
    </a:fontScheme>
    <a:fmtScheme name="ChatGPT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ppt/slides/_rels/slide1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efe463d6773249e6" /><Relationship Type="http://schemas.openxmlformats.org/officeDocument/2006/relationships/image" Target="/ppt/media/image.png" Id="R09bcd595f41f40fd" /><Relationship Type="http://schemas.openxmlformats.org/officeDocument/2006/relationships/notesSlide" Target="/ppt/notesSlides/notesSlide1.xml" Id="R386f8881f5ef4323" /></Relationships>
</file>

<file path=ppt/slides/_rels/slide2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9ed990a6440d41b8" /><Relationship Type="http://schemas.openxmlformats.org/officeDocument/2006/relationships/notesSlide" Target="/ppt/notesSlides/notesSlide2.xml" Id="Ra9ca8ef3c1ab4347" /></Relationships>
</file>

<file path=ppt/slides/_rels/slide3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f2ca5147a50c445b" /><Relationship Type="http://schemas.openxmlformats.org/officeDocument/2006/relationships/notesSlide" Target="/ppt/notesSlides/notesSlide3.xml" Id="R7bd734d6bdf4493d" /></Relationships>
</file>

<file path=ppt/slides/_rels/slide4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1a42d3c9c80947a7" /><Relationship Type="http://schemas.openxmlformats.org/officeDocument/2006/relationships/notesSlide" Target="/ppt/notesSlides/notesSlide4.xml" Id="R5304aab5711e47f9" /></Relationships>
</file>

<file path=ppt/slides/_rels/slide5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11b59f064c3e488a" /><Relationship Type="http://schemas.openxmlformats.org/officeDocument/2006/relationships/notesSlide" Target="/ppt/notesSlides/notesSlide5.xml" Id="Rf6743d4140324343" /></Relationships>
</file>

<file path=ppt/slides/_rels/slide6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9c78b2b70d4346a2" /><Relationship Type="http://schemas.openxmlformats.org/officeDocument/2006/relationships/notesSlide" Target="/ppt/notesSlides/notesSlide6.xml" Id="R6fe42d529c9043db" /></Relationships>
</file>

<file path=ppt/slides/_rels/slide7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2f67edecdf604637" /><Relationship Type="http://schemas.openxmlformats.org/officeDocument/2006/relationships/notesSlide" Target="/ppt/notesSlides/notesSlide7.xml" Id="R1f4d2d1fdfd74a66" /></Relationships>
</file>

<file path=ppt/slides/_rels/slide8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16070726e80b4573" /><Relationship Type="http://schemas.openxmlformats.org/officeDocument/2006/relationships/notesSlide" Target="/ppt/notesSlides/notesSlide8.xml" Id="R06e819c514474dbe" /></Relationships>
</file>

<file path=ppt/slides/slide1.xml><?xml version="1.0" encoding="utf-8"?>
<p:sld xmlns:p="http://schemas.openxmlformats.org/presentationml/2006/main">
  <p:cSld>
    <p:bg>
      <p:bgPr>
        <a:solidFill xmlns:a="http://schemas.openxmlformats.org/drawingml/2006/main">
          <a:srgbClr val="FBF6E8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6E81B1FC-7F2A-4092-893C-6E735A3A66D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2192000" cy="171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C26A32"/>
          </a:solidFill>
          <a:ln xmlns:a="http://schemas.openxmlformats.org/drawingml/2006/main" w="0">
            <a:solidFill>
              <a:srgbClr val="C26A32"/>
            </a:solidFill>
            <a:prstDash val="solid"/>
          </a:ln>
        </p:spPr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A4DB4356-0812-4BC1-8BFD-37BAC8F8528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323850"/>
            <a:ext cx="40005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050" b="1">
                <a:solidFill>
                  <a:srgbClr val="C26A32"/>
                </a:solidFill>
              </a:defRPr>
            </a:pPr>
            <a:r>
              <a:rPr sz="1050" b="1">
                <a:solidFill>
                  <a:srgbClr val="C26A32"/>
                </a:solidFill>
              </a:rPr>
              <a:t>CARRY-ALL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7027C47B-12DA-46A5-B935-439462A69F2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858250" y="323850"/>
            <a:ext cx="264795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r">
              <a:defRPr sz="1050">
                <a:solidFill>
                  <a:srgbClr val="5A6A65"/>
                </a:solidFill>
              </a:defRPr>
            </a:pPr>
            <a:r>
              <a:rPr sz="1050">
                <a:solidFill>
                  <a:srgbClr val="5A6A65"/>
                </a:solidFill>
              </a:rPr>
              <a:t>Weeks 3–4  ·  1/8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75E5BE37-8152-4CC4-8927-BA01E3A269B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1066800"/>
            <a:ext cx="6191250" cy="2381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4500" b="1">
                <a:solidFill>
                  <a:srgbClr val="173D31"/>
                </a:solidFill>
              </a:defRPr>
            </a:pPr>
            <a:r>
              <a:rPr sz="4500" b="1">
                <a:solidFill>
                  <a:srgbClr val="173D31"/>
                </a:solidFill>
              </a:rPr>
              <a:t>Materials, culture and responsible use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1DA2A976-1AD1-42CF-ADEB-20A69D055A3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3900" y="3638550"/>
            <a:ext cx="5905500" cy="552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800">
                <a:solidFill>
                  <a:srgbClr val="435A53"/>
                </a:solidFill>
              </a:defRPr>
            </a:pPr>
            <a:r>
              <a:rPr sz="1800">
                <a:solidFill>
                  <a:srgbClr val="435A53"/>
                </a:solidFill>
              </a:rPr>
              <a:t>Weeks 3–4 guided learning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2F78F1D7-7387-4F06-8FAD-AC3E71CA18F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3900" y="4457700"/>
            <a:ext cx="1714500" cy="762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C26A32"/>
          </a:solidFill>
          <a:ln xmlns:a="http://schemas.openxmlformats.org/drawingml/2006/main" w="0">
            <a:solidFill>
              <a:srgbClr val="C26A32"/>
            </a:solidFill>
            <a:prstDash val="solid"/>
          </a:ln>
        </p:spPr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DD6F690D-62E1-4D5D-B839-06E27DD2E1F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3900" y="4800600"/>
            <a:ext cx="6858000" cy="5143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650" b="1">
                <a:solidFill>
                  <a:srgbClr val="173D31"/>
                </a:solidFill>
              </a:defRPr>
            </a:pPr>
            <a:r>
              <a:rPr sz="1650" b="1">
                <a:solidFill>
                  <a:srgbClr val="173D31"/>
                </a:solidFill>
              </a:rPr>
              <a:t>Read the theory. Check your understanding. Save useful evidence.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77DBA2BB-B195-4B7C-8665-6A2CC24272E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524750" y="990600"/>
            <a:ext cx="3981450" cy="4762500"/>
          </a:xfrm>
          <a:prstGeom xmlns:a="http://schemas.openxmlformats.org/drawingml/2006/main" prst="roundRect">
            <a:avLst>
              <a:gd name="adj" fmla="val 4785"/>
            </a:avLst>
          </a:prstGeom>
          <a:solidFill xmlns:a="http://schemas.openxmlformats.org/drawingml/2006/main">
            <a:srgbClr val="F2D4B8"/>
          </a:solidFill>
          <a:ln xmlns:a="http://schemas.openxmlformats.org/drawingml/2006/main" w="0">
            <a:solidFill>
              <a:srgbClr val="F2D4B8"/>
            </a:solidFill>
            <a:prstDash val="solid"/>
          </a:ln>
        </p:spPr>
      </p:sp>
      <p:pic>
        <p:nvPicPr>
          <p:cNvPr id="18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09bcd595f41f40fd"/>
          <a:stretch xmlns:a="http://schemas.openxmlformats.org/drawingml/2006/main"/>
        </p:blipFill>
        <p:spPr>
          <a:xfrm xmlns:a="http://schemas.openxmlformats.org/drawingml/2006/main">
            <a:off x="7658100" y="2326521"/>
            <a:ext cx="3714750" cy="2090658"/>
          </a:xfrm>
          <a:prstGeom xmlns:a="http://schemas.openxmlformats.org/drawingml/2006/main" prst="roundRect">
            <a:avLst>
              <a:gd name="adj" fmla="val 5128"/>
            </a:avLst>
          </a:prstGeom>
        </p:spPr>
      </p:pic>
    </p:spTree>
    <p:extLst>
      <p:ext uri="{BB962C8B-B14F-4D97-AF65-F5344CB8AC3E}">
        <p14:creationId xmlns:p14="http://schemas.microsoft.com/office/powerpoint/2010/main" val="177039256"/>
      </p:ext>
    </p:extLst>
  </p:cSld>
</p:sld>
</file>

<file path=ppt/slides/slide2.xml><?xml version="1.0" encoding="utf-8"?>
<p:sld xmlns:p="http://schemas.openxmlformats.org/presentationml/2006/main">
  <p:cSld>
    <p:bg>
      <p:bgPr>
        <a:solidFill xmlns:a="http://schemas.openxmlformats.org/drawingml/2006/main">
          <a:srgbClr val="FBF6E8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0B3B154A-86D8-4BE2-B909-443223DB27F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2192000" cy="171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C26A32"/>
          </a:solidFill>
          <a:ln xmlns:a="http://schemas.openxmlformats.org/drawingml/2006/main" w="0">
            <a:solidFill>
              <a:srgbClr val="C26A32"/>
            </a:solidFill>
            <a:prstDash val="solid"/>
          </a:ln>
        </p:spPr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E5AFE9FB-B35D-42AB-A4E9-F23D0DE2E20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323850"/>
            <a:ext cx="40005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050" b="1">
                <a:solidFill>
                  <a:srgbClr val="C26A32"/>
                </a:solidFill>
              </a:defRPr>
            </a:pPr>
            <a:r>
              <a:rPr sz="1050" b="1">
                <a:solidFill>
                  <a:srgbClr val="C26A32"/>
                </a:solidFill>
              </a:rPr>
              <a:t>CARRY-ALL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1B50554A-372D-4511-82F1-2615F32901C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858250" y="323850"/>
            <a:ext cx="264795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r">
              <a:defRPr sz="1050">
                <a:solidFill>
                  <a:srgbClr val="5A6A65"/>
                </a:solidFill>
              </a:defRPr>
            </a:pPr>
            <a:r>
              <a:rPr sz="1050">
                <a:solidFill>
                  <a:srgbClr val="5A6A65"/>
                </a:solidFill>
              </a:rPr>
              <a:t>Weeks 3–4  ·  2/8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2821A73F-C954-47C2-A20D-5105FE15AE7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876300"/>
            <a:ext cx="7620000" cy="609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3600" b="1">
                <a:solidFill>
                  <a:srgbClr val="173D31"/>
                </a:solidFill>
              </a:defRPr>
            </a:pPr>
            <a:r>
              <a:rPr sz="3600" b="1">
                <a:solidFill>
                  <a:srgbClr val="173D31"/>
                </a:solidFill>
              </a:rPr>
              <a:t>What you will learn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F10E1435-AB0A-4195-BDA3-3FC6BE9AB51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1543050"/>
            <a:ext cx="9906000" cy="5334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650">
                <a:solidFill>
                  <a:srgbClr val="435A53"/>
                </a:solidFill>
              </a:defRPr>
            </a:pPr>
            <a:r>
              <a:rPr sz="1650">
                <a:solidFill>
                  <a:srgbClr val="435A53"/>
                </a:solidFill>
              </a:rPr>
              <a:t>Use the module in order. Each idea supports the checks and written evidence that follow.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E4BC3B27-5392-4124-9D2B-5D042A29704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76300" y="2400300"/>
            <a:ext cx="514350" cy="5143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C26A32"/>
          </a:solidFill>
          <a:ln xmlns:a="http://schemas.openxmlformats.org/drawingml/2006/main" w="0">
            <a:solidFill>
              <a:srgbClr val="C26A32"/>
            </a:solidFill>
            <a:prstDash val="solid"/>
          </a:ln>
        </p:spPr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880C3AAD-7C32-4216-BB5D-8CEE7DE6CB2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81075" y="2476500"/>
            <a:ext cx="304800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650" b="1">
                <a:solidFill>
                  <a:srgbClr val="FFFFFF"/>
                </a:solidFill>
              </a:defRPr>
            </a:pPr>
            <a:r>
              <a:rPr sz="1650" b="1">
                <a:solidFill>
                  <a:srgbClr val="FFFFFF"/>
                </a:solidFill>
              </a:rPr>
              <a:t>1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10947289-03A5-407C-BB96-83EA0E1EDA0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581150" y="2381250"/>
            <a:ext cx="8572500" cy="666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650" b="1">
                <a:solidFill>
                  <a:srgbClr val="173D31"/>
                </a:solidFill>
              </a:defRPr>
            </a:pPr>
            <a:r>
              <a:rPr sz="1650" b="1">
                <a:solidFill>
                  <a:srgbClr val="173D31"/>
                </a:solidFill>
              </a:rPr>
              <a:t>Selecting pine and plywood for the Carry-All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F976F34E-FE4C-49EA-BDAC-88F87D0EA29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76300" y="3409950"/>
            <a:ext cx="514350" cy="5143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C26A32"/>
          </a:solidFill>
          <a:ln xmlns:a="http://schemas.openxmlformats.org/drawingml/2006/main" w="0">
            <a:solidFill>
              <a:srgbClr val="C26A32"/>
            </a:solidFill>
            <a:prstDash val="solid"/>
          </a:ln>
        </p:spPr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1781A0F0-89FE-45BF-AB70-80B8C31F2D5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81075" y="3486150"/>
            <a:ext cx="304800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650" b="1">
                <a:solidFill>
                  <a:srgbClr val="FFFFFF"/>
                </a:solidFill>
              </a:defRPr>
            </a:pPr>
            <a:r>
              <a:rPr sz="1650" b="1">
                <a:solidFill>
                  <a:srgbClr val="FFFFFF"/>
                </a:solidFill>
              </a:rPr>
              <a:t>2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6F44EA1D-859E-46B1-8305-9E72E457678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581150" y="3390900"/>
            <a:ext cx="8572500" cy="666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650" b="1">
                <a:solidFill>
                  <a:srgbClr val="173D31"/>
                </a:solidFill>
              </a:defRPr>
            </a:pPr>
            <a:r>
              <a:rPr sz="1650" b="1">
                <a:solidFill>
                  <a:srgbClr val="173D31"/>
                </a:solidFill>
              </a:rPr>
              <a:t>Learning respectfully from Aboriginal and Torres Strait Islander timber…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AB95B196-693C-4C77-A403-8CCDFFF2CC4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76300" y="4419600"/>
            <a:ext cx="514350" cy="5143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C26A32"/>
          </a:solidFill>
          <a:ln xmlns:a="http://schemas.openxmlformats.org/drawingml/2006/main" w="0">
            <a:solidFill>
              <a:srgbClr val="C26A32"/>
            </a:solidFill>
            <a:prstDash val="solid"/>
          </a:ln>
        </p:spPr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7461E708-C5F3-47EF-A0DE-5027D0952A0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81075" y="4495800"/>
            <a:ext cx="304800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650" b="1">
                <a:solidFill>
                  <a:srgbClr val="FFFFFF"/>
                </a:solidFill>
              </a:defRPr>
            </a:pPr>
            <a:r>
              <a:rPr sz="1650" b="1">
                <a:solidFill>
                  <a:srgbClr val="FFFFFF"/>
                </a:solidFill>
              </a:rPr>
              <a:t>3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5F75857B-DEAB-42FE-8E62-A17BD88EA6E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581150" y="4400550"/>
            <a:ext cx="8572500" cy="666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650" b="1">
                <a:solidFill>
                  <a:srgbClr val="173D31"/>
                </a:solidFill>
              </a:defRPr>
            </a:pPr>
            <a:r>
              <a:rPr sz="1650" b="1">
                <a:solidFill>
                  <a:srgbClr val="173D31"/>
                </a:solidFill>
              </a:rPr>
              <a:t>Using timber responsibly and reducing project waste</a:t>
            </a:r>
          </a:p>
        </p:txBody>
      </p:sp>
    </p:spTree>
    <p:extLst>
      <p:ext uri="{BB962C8B-B14F-4D97-AF65-F5344CB8AC3E}">
        <p14:creationId xmlns:p14="http://schemas.microsoft.com/office/powerpoint/2010/main" val="961164960"/>
      </p:ext>
    </p:extLst>
  </p:cSld>
</p:sld>
</file>

<file path=ppt/slides/slide3.xml><?xml version="1.0" encoding="utf-8"?>
<p:sld xmlns:p="http://schemas.openxmlformats.org/presentationml/2006/main">
  <p:cSld>
    <p:bg>
      <p:bgPr>
        <a:solidFill xmlns:a="http://schemas.openxmlformats.org/drawingml/2006/main">
          <a:srgbClr val="FBF6E8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27B42AB0-2223-4FED-AB10-4DC28D50AEB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2192000" cy="171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C26A32"/>
          </a:solidFill>
          <a:ln xmlns:a="http://schemas.openxmlformats.org/drawingml/2006/main" w="0">
            <a:solidFill>
              <a:srgbClr val="C26A32"/>
            </a:solidFill>
            <a:prstDash val="solid"/>
          </a:ln>
        </p:spPr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5F889333-EDC8-4BE9-90CC-908CAEDD360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323850"/>
            <a:ext cx="40005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050" b="1">
                <a:solidFill>
                  <a:srgbClr val="C26A32"/>
                </a:solidFill>
              </a:defRPr>
            </a:pPr>
            <a:r>
              <a:rPr sz="1050" b="1">
                <a:solidFill>
                  <a:srgbClr val="C26A32"/>
                </a:solidFill>
              </a:rPr>
              <a:t>CARRY-ALL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6C96D65C-B66B-4729-8558-076A64D2975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858250" y="323850"/>
            <a:ext cx="264795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r">
              <a:defRPr sz="1050">
                <a:solidFill>
                  <a:srgbClr val="5A6A65"/>
                </a:solidFill>
              </a:defRPr>
            </a:pPr>
            <a:r>
              <a:rPr sz="1050">
                <a:solidFill>
                  <a:srgbClr val="5A6A65"/>
                </a:solidFill>
              </a:rPr>
              <a:t>Weeks 3–4  ·  3/8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690E4C13-B69D-43BF-A1E9-95990637BD4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781050"/>
            <a:ext cx="10668000" cy="781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3600" b="1">
                <a:solidFill>
                  <a:srgbClr val="173D31"/>
                </a:solidFill>
              </a:defRPr>
            </a:pPr>
            <a:r>
              <a:rPr sz="3600" b="1">
                <a:solidFill>
                  <a:srgbClr val="173D31"/>
                </a:solidFill>
              </a:rPr>
              <a:t>Selecting pine and plywood for the Carry-All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0F61D004-AF88-44A9-BBED-B8392C37CC5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2028825"/>
            <a:ext cx="95250" cy="6286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C26A32"/>
          </a:solidFill>
          <a:ln xmlns:a="http://schemas.openxmlformats.org/drawingml/2006/main" w="0">
            <a:solidFill>
              <a:srgbClr val="C26A32"/>
            </a:solidFill>
            <a:prstDash val="solid"/>
          </a:ln>
        </p:spPr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1A923E44-780D-4B12-B3E5-0DC47955034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66800" y="1962150"/>
            <a:ext cx="2381250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350" b="1">
                <a:solidFill>
                  <a:srgbClr val="C26A32"/>
                </a:solidFill>
              </a:defRPr>
            </a:pPr>
            <a:r>
              <a:rPr sz="1350" b="1">
                <a:solidFill>
                  <a:srgbClr val="C26A32"/>
                </a:solidFill>
              </a:rPr>
              <a:t>Main idea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5BD9920A-4097-4621-9974-613CCDB7D8B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66800" y="2286000"/>
            <a:ext cx="9620250" cy="666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650">
                <a:solidFill>
                  <a:srgbClr val="173D31"/>
                </a:solidFill>
              </a:defRPr>
            </a:pPr>
            <a:r>
              <a:rPr sz="1650">
                <a:solidFill>
                  <a:srgbClr val="173D31"/>
                </a:solidFill>
              </a:rPr>
              <a:t>The working drawing specifies 12 mm pine for the Carry-All’s timber components and a 3 mm plywood base.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0369FA51-A89F-4128-AF99-16C861E6172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3171825"/>
            <a:ext cx="95250" cy="6286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C26A32"/>
          </a:solidFill>
          <a:ln xmlns:a="http://schemas.openxmlformats.org/drawingml/2006/main" w="0">
            <a:solidFill>
              <a:srgbClr val="C26A32"/>
            </a:solidFill>
            <a:prstDash val="solid"/>
          </a:ln>
        </p:spPr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B344037B-5060-4F86-B657-64AE5E60D2C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66800" y="3105150"/>
            <a:ext cx="2381250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350" b="1">
                <a:solidFill>
                  <a:srgbClr val="C26A32"/>
                </a:solidFill>
              </a:defRPr>
            </a:pPr>
            <a:r>
              <a:rPr sz="1350" b="1">
                <a:solidFill>
                  <a:srgbClr val="C26A32"/>
                </a:solidFill>
              </a:rPr>
              <a:t>Check 2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C4C8BDEC-9B5D-427C-9209-BA543D8EB5C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66800" y="3429000"/>
            <a:ext cx="9620250" cy="666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650">
                <a:solidFill>
                  <a:srgbClr val="173D31"/>
                </a:solidFill>
              </a:defRPr>
            </a:pPr>
            <a:r>
              <a:rPr sz="1650">
                <a:solidFill>
                  <a:srgbClr val="173D31"/>
                </a:solidFill>
              </a:rPr>
              <a:t>These materials have different properties and purposes, so they must be selected carefully rather than treated as interchangeable.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2B707184-738A-48AD-B090-EC05DBBBC85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4314825"/>
            <a:ext cx="95250" cy="6286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C26A32"/>
          </a:solidFill>
          <a:ln xmlns:a="http://schemas.openxmlformats.org/drawingml/2006/main" w="0">
            <a:solidFill>
              <a:srgbClr val="C26A32"/>
            </a:solidFill>
            <a:prstDash val="solid"/>
          </a:ln>
        </p:spPr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AB333F4A-6657-4FF8-AC9B-D8D3BFFFF2B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66800" y="4248150"/>
            <a:ext cx="2381250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350" b="1">
                <a:solidFill>
                  <a:srgbClr val="C26A32"/>
                </a:solidFill>
              </a:defRPr>
            </a:pPr>
            <a:r>
              <a:rPr sz="1350" b="1">
                <a:solidFill>
                  <a:srgbClr val="C26A32"/>
                </a:solidFill>
              </a:rPr>
              <a:t>Check 3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4510B61B-8367-4ECA-9F6C-94F0F7AD151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66800" y="4572000"/>
            <a:ext cx="9620250" cy="666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650">
                <a:solidFill>
                  <a:srgbClr val="173D31"/>
                </a:solidFill>
              </a:defRPr>
            </a:pPr>
            <a:r>
              <a:rPr sz="1650">
                <a:solidFill>
                  <a:srgbClr val="173D31"/>
                </a:solidFill>
              </a:rPr>
              <a:t>Pine provides the solid timber needed for the sides, central handle or handle panel, dividers and other components shown on the drawing.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8715B6DF-E88F-4BE9-ACB4-D60516563EE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6057900"/>
            <a:ext cx="95250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275" i="1">
                <a:solidFill>
                  <a:srgbClr val="5A6A65"/>
                </a:solidFill>
              </a:defRPr>
            </a:pPr>
            <a:r>
              <a:rPr sz="1275" i="1">
                <a:solidFill>
                  <a:srgbClr val="5A6A65"/>
                </a:solidFill>
              </a:rPr>
              <a:t>Return to the module page for the full explanation, visual and section video.</a:t>
            </a:r>
          </a:p>
        </p:txBody>
      </p:sp>
    </p:spTree>
    <p:extLst>
      <p:ext uri="{BB962C8B-B14F-4D97-AF65-F5344CB8AC3E}">
        <p14:creationId xmlns:p14="http://schemas.microsoft.com/office/powerpoint/2010/main" val="1354996677"/>
      </p:ext>
    </p:extLst>
  </p:cSld>
</p:sld>
</file>

<file path=ppt/slides/slide4.xml><?xml version="1.0" encoding="utf-8"?>
<p:sld xmlns:p="http://schemas.openxmlformats.org/presentationml/2006/main">
  <p:cSld>
    <p:bg>
      <p:bgPr>
        <a:solidFill xmlns:a="http://schemas.openxmlformats.org/drawingml/2006/main">
          <a:srgbClr val="FBF6E8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8A5C739B-0FDD-4B43-BD7B-D2C5659827A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2192000" cy="171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C26A32"/>
          </a:solidFill>
          <a:ln xmlns:a="http://schemas.openxmlformats.org/drawingml/2006/main" w="0">
            <a:solidFill>
              <a:srgbClr val="C26A32"/>
            </a:solidFill>
            <a:prstDash val="solid"/>
          </a:ln>
        </p:spPr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BEE96846-56D2-4007-BA97-CAADA0E176B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323850"/>
            <a:ext cx="40005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050" b="1">
                <a:solidFill>
                  <a:srgbClr val="C26A32"/>
                </a:solidFill>
              </a:defRPr>
            </a:pPr>
            <a:r>
              <a:rPr sz="1050" b="1">
                <a:solidFill>
                  <a:srgbClr val="C26A32"/>
                </a:solidFill>
              </a:rPr>
              <a:t>CARRY-ALL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E8DB35F3-566C-4264-85C0-E30B1DBF8FF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858250" y="323850"/>
            <a:ext cx="264795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r">
              <a:defRPr sz="1050">
                <a:solidFill>
                  <a:srgbClr val="5A6A65"/>
                </a:solidFill>
              </a:defRPr>
            </a:pPr>
            <a:r>
              <a:rPr sz="1050">
                <a:solidFill>
                  <a:srgbClr val="5A6A65"/>
                </a:solidFill>
              </a:rPr>
              <a:t>Weeks 3–4  ·  4/8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9626995F-2689-490A-BA99-0D6568BCF7A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781050"/>
            <a:ext cx="10668000" cy="12001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3600" b="1">
                <a:solidFill>
                  <a:srgbClr val="173D31"/>
                </a:solidFill>
              </a:defRPr>
            </a:pPr>
            <a:r>
              <a:rPr sz="3600" b="1">
                <a:solidFill>
                  <a:srgbClr val="173D31"/>
                </a:solidFill>
              </a:rPr>
              <a:t>Learning respectfully from Aboriginal and Torres Strait…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562464D4-3208-4E17-959D-640E430F18C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2219325"/>
            <a:ext cx="95250" cy="6286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C26A32"/>
          </a:solidFill>
          <a:ln xmlns:a="http://schemas.openxmlformats.org/drawingml/2006/main" w="0">
            <a:solidFill>
              <a:srgbClr val="C26A32"/>
            </a:solidFill>
            <a:prstDash val="solid"/>
          </a:ln>
        </p:spPr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F5DBCA8E-1035-468D-BD24-070C97F7A1E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66800" y="2152650"/>
            <a:ext cx="2381250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350" b="1">
                <a:solidFill>
                  <a:srgbClr val="C26A32"/>
                </a:solidFill>
              </a:defRPr>
            </a:pPr>
            <a:r>
              <a:rPr sz="1350" b="1">
                <a:solidFill>
                  <a:srgbClr val="C26A32"/>
                </a:solidFill>
              </a:rPr>
              <a:t>Main idea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8B7FDF5B-7483-40AD-A211-A87052AED04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66800" y="2476500"/>
            <a:ext cx="9620250" cy="666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650">
                <a:solidFill>
                  <a:srgbClr val="173D31"/>
                </a:solidFill>
              </a:defRPr>
            </a:pPr>
            <a:r>
              <a:rPr sz="1650">
                <a:solidFill>
                  <a:srgbClr val="173D31"/>
                </a:solidFill>
              </a:rPr>
              <a:t>Aboriginal and Torres Strait Islander timber technologies are not one single tradition.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82E8C7A4-4ABA-4D2C-AF5D-FA2E45A7A77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3362325"/>
            <a:ext cx="95250" cy="6286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C26A32"/>
          </a:solidFill>
          <a:ln xmlns:a="http://schemas.openxmlformats.org/drawingml/2006/main" w="0">
            <a:solidFill>
              <a:srgbClr val="C26A32"/>
            </a:solidFill>
            <a:prstDash val="solid"/>
          </a:ln>
        </p:spPr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534FA3F8-7301-4A7B-A173-26A6096C9CD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66800" y="3295650"/>
            <a:ext cx="2381250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350" b="1">
                <a:solidFill>
                  <a:srgbClr val="C26A32"/>
                </a:solidFill>
              </a:defRPr>
            </a:pPr>
            <a:r>
              <a:rPr sz="1350" b="1">
                <a:solidFill>
                  <a:srgbClr val="C26A32"/>
                </a:solidFill>
              </a:rPr>
              <a:t>Check 2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B03D5A26-9DD4-4C62-8F7F-F6A61D6641D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66800" y="3619500"/>
            <a:ext cx="9620250" cy="666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650">
                <a:solidFill>
                  <a:srgbClr val="173D31"/>
                </a:solidFill>
              </a:defRPr>
            </a:pPr>
            <a:r>
              <a:rPr sz="1650">
                <a:solidFill>
                  <a:srgbClr val="173D31"/>
                </a:solidFill>
              </a:rPr>
              <a:t>They include many distinct knowledge systems developed by different Nations, language groups, families and communities over long periods of time.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4EB33F1D-D843-4A8D-BEED-E0B9BB6CD90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4505325"/>
            <a:ext cx="95250" cy="6286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C26A32"/>
          </a:solidFill>
          <a:ln xmlns:a="http://schemas.openxmlformats.org/drawingml/2006/main" w="0">
            <a:solidFill>
              <a:srgbClr val="C26A32"/>
            </a:solidFill>
            <a:prstDash val="solid"/>
          </a:ln>
        </p:spPr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3322EFE2-C741-4003-B2A2-D0DA085F791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66800" y="4438650"/>
            <a:ext cx="2381250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350" b="1">
                <a:solidFill>
                  <a:srgbClr val="C26A32"/>
                </a:solidFill>
              </a:defRPr>
            </a:pPr>
            <a:r>
              <a:rPr sz="1350" b="1">
                <a:solidFill>
                  <a:srgbClr val="C26A32"/>
                </a:solidFill>
              </a:rPr>
              <a:t>Check 3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ED2F3668-1889-44C2-B717-CB6832DF24F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66800" y="4762500"/>
            <a:ext cx="9620250" cy="666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650">
                <a:solidFill>
                  <a:srgbClr val="173D31"/>
                </a:solidFill>
              </a:defRPr>
            </a:pPr>
            <a:r>
              <a:rPr sz="1650">
                <a:solidFill>
                  <a:srgbClr val="173D31"/>
                </a:solidFill>
              </a:rPr>
              <a:t>This knowledge is connected to Country, local plants, seasons, material properties, purpose and cultural responsibility.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8CC8B15D-4A80-487B-AA14-8455F986A3F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6057900"/>
            <a:ext cx="95250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275" i="1">
                <a:solidFill>
                  <a:srgbClr val="5A6A65"/>
                </a:solidFill>
              </a:defRPr>
            </a:pPr>
            <a:r>
              <a:rPr sz="1275" i="1">
                <a:solidFill>
                  <a:srgbClr val="5A6A65"/>
                </a:solidFill>
              </a:rPr>
              <a:t>Return to the module page for the full explanation, visual and section video.</a:t>
            </a:r>
          </a:p>
        </p:txBody>
      </p:sp>
    </p:spTree>
    <p:extLst>
      <p:ext uri="{BB962C8B-B14F-4D97-AF65-F5344CB8AC3E}">
        <p14:creationId xmlns:p14="http://schemas.microsoft.com/office/powerpoint/2010/main" val="1910687535"/>
      </p:ext>
    </p:extLst>
  </p:cSld>
</p:sld>
</file>

<file path=ppt/slides/slide5.xml><?xml version="1.0" encoding="utf-8"?>
<p:sld xmlns:p="http://schemas.openxmlformats.org/presentationml/2006/main">
  <p:cSld>
    <p:bg>
      <p:bgPr>
        <a:solidFill xmlns:a="http://schemas.openxmlformats.org/drawingml/2006/main">
          <a:srgbClr val="FBF6E8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F7DE9B00-1304-4D6A-B009-8EA67669204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2192000" cy="171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C26A32"/>
          </a:solidFill>
          <a:ln xmlns:a="http://schemas.openxmlformats.org/drawingml/2006/main" w="0">
            <a:solidFill>
              <a:srgbClr val="C26A32"/>
            </a:solidFill>
            <a:prstDash val="solid"/>
          </a:ln>
        </p:spPr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BB8970CC-355B-43D2-AF3F-358B1960B4B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323850"/>
            <a:ext cx="40005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050" b="1">
                <a:solidFill>
                  <a:srgbClr val="C26A32"/>
                </a:solidFill>
              </a:defRPr>
            </a:pPr>
            <a:r>
              <a:rPr sz="1050" b="1">
                <a:solidFill>
                  <a:srgbClr val="C26A32"/>
                </a:solidFill>
              </a:rPr>
              <a:t>CARRY-ALL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5DC62747-F169-41D3-9879-7CB49688511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858250" y="323850"/>
            <a:ext cx="264795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r">
              <a:defRPr sz="1050">
                <a:solidFill>
                  <a:srgbClr val="5A6A65"/>
                </a:solidFill>
              </a:defRPr>
            </a:pPr>
            <a:r>
              <a:rPr sz="1050">
                <a:solidFill>
                  <a:srgbClr val="5A6A65"/>
                </a:solidFill>
              </a:rPr>
              <a:t>Weeks 3–4  ·  5/8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AF806613-ED32-4B02-BDEF-F205E097ED3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781050"/>
            <a:ext cx="10668000" cy="12001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3600" b="1">
                <a:solidFill>
                  <a:srgbClr val="173D31"/>
                </a:solidFill>
              </a:defRPr>
            </a:pPr>
            <a:r>
              <a:rPr sz="3600" b="1">
                <a:solidFill>
                  <a:srgbClr val="173D31"/>
                </a:solidFill>
              </a:rPr>
              <a:t>Using timber responsibly and reducing project waste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AC09F06C-9A84-49D0-B5F1-FD2BE301D67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2219325"/>
            <a:ext cx="95250" cy="6286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C26A32"/>
          </a:solidFill>
          <a:ln xmlns:a="http://schemas.openxmlformats.org/drawingml/2006/main" w="0">
            <a:solidFill>
              <a:srgbClr val="C26A32"/>
            </a:solidFill>
            <a:prstDash val="solid"/>
          </a:ln>
        </p:spPr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0A019DF4-E2B0-4B1C-8874-20AEFBBA5EF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66800" y="2152650"/>
            <a:ext cx="2381250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350" b="1">
                <a:solidFill>
                  <a:srgbClr val="C26A32"/>
                </a:solidFill>
              </a:defRPr>
            </a:pPr>
            <a:r>
              <a:rPr sz="1350" b="1">
                <a:solidFill>
                  <a:srgbClr val="C26A32"/>
                </a:solidFill>
              </a:rPr>
              <a:t>Main idea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772A14C1-2E10-4249-B6E6-432C45543A7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66800" y="2476500"/>
            <a:ext cx="9620250" cy="666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650">
                <a:solidFill>
                  <a:srgbClr val="173D31"/>
                </a:solidFill>
              </a:defRPr>
            </a:pPr>
            <a:r>
              <a:rPr sz="1650">
                <a:solidFill>
                  <a:srgbClr val="173D31"/>
                </a:solidFill>
              </a:rPr>
              <a:t>Responsible material use begins before any component is marked or cut.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13771272-7546-4F53-815E-1E8509DA75C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3362325"/>
            <a:ext cx="95250" cy="6286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C26A32"/>
          </a:solidFill>
          <a:ln xmlns:a="http://schemas.openxmlformats.org/drawingml/2006/main" w="0">
            <a:solidFill>
              <a:srgbClr val="C26A32"/>
            </a:solidFill>
            <a:prstDash val="solid"/>
          </a:ln>
        </p:spPr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53E40419-6679-4A35-9A95-EEE466E9CB7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66800" y="3295650"/>
            <a:ext cx="2381250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350" b="1">
                <a:solidFill>
                  <a:srgbClr val="C26A32"/>
                </a:solidFill>
              </a:defRPr>
            </a:pPr>
            <a:r>
              <a:rPr sz="1350" b="1">
                <a:solidFill>
                  <a:srgbClr val="C26A32"/>
                </a:solidFill>
              </a:rPr>
              <a:t>Check 2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36887F90-268A-4C11-9A8D-62D8B2E2048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66800" y="3619500"/>
            <a:ext cx="9620250" cy="666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650">
                <a:solidFill>
                  <a:srgbClr val="173D31"/>
                </a:solidFill>
              </a:defRPr>
            </a:pPr>
            <a:r>
              <a:rPr sz="1650">
                <a:solidFill>
                  <a:srgbClr val="173D31"/>
                </a:solidFill>
              </a:rPr>
              <a:t>The Carry-All working drawing and teacher directions identify what must be made from the approved 12 mm pine and 3 mm plywood.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B994184A-BE9F-4A0C-BF9F-E3BE8362FEC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4505325"/>
            <a:ext cx="95250" cy="6286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C26A32"/>
          </a:solidFill>
          <a:ln xmlns:a="http://schemas.openxmlformats.org/drawingml/2006/main" w="0">
            <a:solidFill>
              <a:srgbClr val="C26A32"/>
            </a:solidFill>
            <a:prstDash val="solid"/>
          </a:ln>
        </p:spPr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DD83E21D-90E3-4036-9797-357DE5DAA4D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66800" y="4438650"/>
            <a:ext cx="2381250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350" b="1">
                <a:solidFill>
                  <a:srgbClr val="C26A32"/>
                </a:solidFill>
              </a:defRPr>
            </a:pPr>
            <a:r>
              <a:rPr sz="1350" b="1">
                <a:solidFill>
                  <a:srgbClr val="C26A32"/>
                </a:solidFill>
              </a:rPr>
              <a:t>Check 3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6206BD69-D43C-47D1-B1ED-F6C20F56113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66800" y="4762500"/>
            <a:ext cx="9620250" cy="666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650">
                <a:solidFill>
                  <a:srgbClr val="173D31"/>
                </a:solidFill>
              </a:defRPr>
            </a:pPr>
            <a:r>
              <a:rPr sz="1650">
                <a:solidFill>
                  <a:srgbClr val="173D31"/>
                </a:solidFill>
              </a:rPr>
              <a:t>Cutting-list thinking means identifying every required component, checking its material and planning how the parts can be arranged on the available stock.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F2A9BDD3-24A0-467E-8FF1-11610F224BD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6057900"/>
            <a:ext cx="95250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275" i="1">
                <a:solidFill>
                  <a:srgbClr val="5A6A65"/>
                </a:solidFill>
              </a:defRPr>
            </a:pPr>
            <a:r>
              <a:rPr sz="1275" i="1">
                <a:solidFill>
                  <a:srgbClr val="5A6A65"/>
                </a:solidFill>
              </a:rPr>
              <a:t>Return to the module page for the full explanation, visual and section video.</a:t>
            </a:r>
          </a:p>
        </p:txBody>
      </p:sp>
    </p:spTree>
    <p:extLst>
      <p:ext uri="{BB962C8B-B14F-4D97-AF65-F5344CB8AC3E}">
        <p14:creationId xmlns:p14="http://schemas.microsoft.com/office/powerpoint/2010/main" val="1704724360"/>
      </p:ext>
    </p:extLst>
  </p:cSld>
</p:sld>
</file>

<file path=ppt/slides/slide6.xml><?xml version="1.0" encoding="utf-8"?>
<p:sld xmlns:p="http://schemas.openxmlformats.org/presentationml/2006/main">
  <p:cSld>
    <p:bg>
      <p:bgPr>
        <a:solidFill xmlns:a="http://schemas.openxmlformats.org/drawingml/2006/main">
          <a:srgbClr val="FBF6E8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A1AF66D6-CBED-4080-933A-B0503EA395B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2192000" cy="171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C26A32"/>
          </a:solidFill>
          <a:ln xmlns:a="http://schemas.openxmlformats.org/drawingml/2006/main" w="0">
            <a:solidFill>
              <a:srgbClr val="C26A32"/>
            </a:solidFill>
            <a:prstDash val="solid"/>
          </a:ln>
        </p:spPr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7488B3A6-7D81-4F5C-8601-D1CF5EF1BBB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323850"/>
            <a:ext cx="40005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050" b="1">
                <a:solidFill>
                  <a:srgbClr val="C26A32"/>
                </a:solidFill>
              </a:defRPr>
            </a:pPr>
            <a:r>
              <a:rPr sz="1050" b="1">
                <a:solidFill>
                  <a:srgbClr val="C26A32"/>
                </a:solidFill>
              </a:rPr>
              <a:t>CARRY-ALL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83F62FF9-8625-4093-9511-39FBBA15D04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858250" y="323850"/>
            <a:ext cx="264795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r">
              <a:defRPr sz="1050">
                <a:solidFill>
                  <a:srgbClr val="5A6A65"/>
                </a:solidFill>
              </a:defRPr>
            </a:pPr>
            <a:r>
              <a:rPr sz="1050">
                <a:solidFill>
                  <a:srgbClr val="5A6A65"/>
                </a:solidFill>
              </a:rPr>
              <a:t>Weeks 3–4  ·  6/8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7E310CCA-5FBE-4E10-AADC-2BA02D01895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876300"/>
            <a:ext cx="10477500" cy="609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3600" b="1">
                <a:solidFill>
                  <a:srgbClr val="173D31"/>
                </a:solidFill>
              </a:defRPr>
            </a:pPr>
            <a:r>
              <a:rPr sz="3600" b="1">
                <a:solidFill>
                  <a:srgbClr val="173D31"/>
                </a:solidFill>
              </a:rPr>
              <a:t>Pause and check your understanding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318B757F-10A2-4C42-B9C3-882DA2B86F1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1050" y="1924050"/>
            <a:ext cx="5334000" cy="4381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575" b="1">
                <a:solidFill>
                  <a:srgbClr val="C26A32"/>
                </a:solidFill>
              </a:defRPr>
            </a:pPr>
            <a:r>
              <a:rPr sz="1575" b="1">
                <a:solidFill>
                  <a:srgbClr val="C26A32"/>
                </a:solidFill>
              </a:rPr>
              <a:t>What is the controlling idea?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E52B35ED-9D41-4C44-845E-6833640C994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1050" y="2400300"/>
            <a:ext cx="9810750" cy="590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875" b="1">
                <a:solidFill>
                  <a:srgbClr val="173D31"/>
                </a:solidFill>
              </a:defRPr>
            </a:pPr>
            <a:r>
              <a:rPr sz="1875" b="1">
                <a:solidFill>
                  <a:srgbClr val="173D31"/>
                </a:solidFill>
              </a:rPr>
              <a:t>Selecting pine and plywood for the Carry-All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9E3A3397-D715-459F-BBE3-92067D72560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1050" y="3276600"/>
            <a:ext cx="5334000" cy="4381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575" b="1">
                <a:solidFill>
                  <a:srgbClr val="C26A32"/>
                </a:solidFill>
              </a:defRPr>
            </a:pPr>
            <a:r>
              <a:rPr sz="1575" b="1">
                <a:solidFill>
                  <a:srgbClr val="C26A32"/>
                </a:solidFill>
              </a:rPr>
              <a:t>Which check would prevent a mistake?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F095B982-BBDB-4E1E-962A-59917418E50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1050" y="3752850"/>
            <a:ext cx="9810750" cy="590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875" b="1">
                <a:solidFill>
                  <a:srgbClr val="173D31"/>
                </a:solidFill>
              </a:defRPr>
            </a:pPr>
            <a:r>
              <a:rPr sz="1875" b="1">
                <a:solidFill>
                  <a:srgbClr val="173D31"/>
                </a:solidFill>
              </a:rPr>
              <a:t>Learning respectfully from Aboriginal and Torres Strait Islander timber technologies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72492168-8735-4CDB-840F-28CEC330342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1050" y="4629150"/>
            <a:ext cx="5334000" cy="4381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575" b="1">
                <a:solidFill>
                  <a:srgbClr val="C26A32"/>
                </a:solidFill>
              </a:defRPr>
            </a:pPr>
            <a:r>
              <a:rPr sz="1575" b="1">
                <a:solidFill>
                  <a:srgbClr val="C26A32"/>
                </a:solidFill>
              </a:rPr>
              <a:t>What evidence would show your decision?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54BB2A20-6D3F-409F-A22C-EA71F442AE2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1050" y="5105400"/>
            <a:ext cx="9810750" cy="590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875" b="1">
                <a:solidFill>
                  <a:srgbClr val="173D31"/>
                </a:solidFill>
              </a:defRPr>
            </a:pPr>
            <a:r>
              <a:rPr sz="1875" b="1">
                <a:solidFill>
                  <a:srgbClr val="173D31"/>
                </a:solidFill>
              </a:rPr>
              <a:t>Using timber responsibly and reducing project waste</a:t>
            </a:r>
          </a:p>
        </p:txBody>
      </p:sp>
    </p:spTree>
    <p:extLst>
      <p:ext uri="{BB962C8B-B14F-4D97-AF65-F5344CB8AC3E}">
        <p14:creationId xmlns:p14="http://schemas.microsoft.com/office/powerpoint/2010/main" val="1812494576"/>
      </p:ext>
    </p:extLst>
  </p:cSld>
</p:sld>
</file>

<file path=ppt/slides/slide7.xml><?xml version="1.0" encoding="utf-8"?>
<p:sld xmlns:p="http://schemas.openxmlformats.org/presentationml/2006/main">
  <p:cSld>
    <p:bg>
      <p:bgPr>
        <a:solidFill xmlns:a="http://schemas.openxmlformats.org/drawingml/2006/main">
          <a:srgbClr val="FBF6E8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9E7EF523-ED12-423E-9923-70978D66EBF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2192000" cy="171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C26A32"/>
          </a:solidFill>
          <a:ln xmlns:a="http://schemas.openxmlformats.org/drawingml/2006/main" w="0">
            <a:solidFill>
              <a:srgbClr val="C26A32"/>
            </a:solidFill>
            <a:prstDash val="solid"/>
          </a:ln>
        </p:spPr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951CFD2A-4A24-4472-81CB-00D6E83FC00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323850"/>
            <a:ext cx="40005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050" b="1">
                <a:solidFill>
                  <a:srgbClr val="C26A32"/>
                </a:solidFill>
              </a:defRPr>
            </a:pPr>
            <a:r>
              <a:rPr sz="1050" b="1">
                <a:solidFill>
                  <a:srgbClr val="C26A32"/>
                </a:solidFill>
              </a:rPr>
              <a:t>CARRY-ALL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AA695F6A-2F7D-458A-924F-CEEBA67C8A8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858250" y="323850"/>
            <a:ext cx="264795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r">
              <a:defRPr sz="1050">
                <a:solidFill>
                  <a:srgbClr val="5A6A65"/>
                </a:solidFill>
              </a:defRPr>
            </a:pPr>
            <a:r>
              <a:rPr sz="1050">
                <a:solidFill>
                  <a:srgbClr val="5A6A65"/>
                </a:solidFill>
              </a:rPr>
              <a:t>Weeks 3–4  ·  7/8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D1F0CFCC-2BFE-4D02-8406-5FE143BFC65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876300"/>
            <a:ext cx="10477500" cy="609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3600" b="1">
                <a:solidFill>
                  <a:srgbClr val="173D31"/>
                </a:solidFill>
              </a:defRPr>
            </a:pPr>
            <a:r>
              <a:rPr sz="3600" b="1">
                <a:solidFill>
                  <a:srgbClr val="173D31"/>
                </a:solidFill>
              </a:rPr>
              <a:t>Build a stronger written response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E32D5E91-A2D9-48A9-9F56-559A5FC3E0B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9150" y="1885950"/>
            <a:ext cx="1428750" cy="476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2100" b="1">
                <a:solidFill>
                  <a:srgbClr val="C26A32"/>
                </a:solidFill>
              </a:defRPr>
            </a:pPr>
            <a:r>
              <a:rPr sz="2100" b="1">
                <a:solidFill>
                  <a:srgbClr val="C26A32"/>
                </a:solidFill>
              </a:rPr>
              <a:t>Read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4B973AB4-4993-45D4-BF8C-39286D0890E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324100" y="1905000"/>
            <a:ext cx="8477250" cy="609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725">
                <a:solidFill>
                  <a:srgbClr val="173D31"/>
                </a:solidFill>
              </a:defRPr>
            </a:pPr>
            <a:r>
              <a:rPr sz="1725">
                <a:solidFill>
                  <a:srgbClr val="173D31"/>
                </a:solidFill>
              </a:rPr>
              <a:t>Underline the command word and the project detail.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F8320C7C-07AE-44F1-A054-57F8E0EA915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8200" y="2628900"/>
            <a:ext cx="990600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19050">
            <a:solidFill>
              <a:srgbClr val="F2D4B8"/>
            </a:solidFill>
            <a:prstDash val="solid"/>
          </a:ln>
        </p:spPr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A70162BE-4029-4E46-8717-19774AD2836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9150" y="2933700"/>
            <a:ext cx="1428750" cy="476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2100" b="1">
                <a:solidFill>
                  <a:srgbClr val="C26A32"/>
                </a:solidFill>
              </a:defRPr>
            </a:pPr>
            <a:r>
              <a:rPr sz="2100" b="1">
                <a:solidFill>
                  <a:srgbClr val="C26A32"/>
                </a:solidFill>
              </a:rPr>
              <a:t>Select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97F37A65-80D2-4D41-8AB0-9376B6AC3C1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324100" y="2952750"/>
            <a:ext cx="8477250" cy="609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725">
                <a:solidFill>
                  <a:srgbClr val="173D31"/>
                </a:solidFill>
              </a:defRPr>
            </a:pPr>
            <a:r>
              <a:rPr sz="1725">
                <a:solidFill>
                  <a:srgbClr val="173D31"/>
                </a:solidFill>
              </a:rPr>
              <a:t>Return to the exact theory section and choose relevant evidence.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170F1210-C200-4F42-B535-19B87CD86E7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8200" y="3676650"/>
            <a:ext cx="990600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19050">
            <a:solidFill>
              <a:srgbClr val="F2D4B8"/>
            </a:solidFill>
            <a:prstDash val="solid"/>
          </a:ln>
        </p:spPr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1ACA515B-7BBF-4CE2-85EB-78DB361BFFE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9150" y="3981450"/>
            <a:ext cx="1428750" cy="476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2100" b="1">
                <a:solidFill>
                  <a:srgbClr val="C26A32"/>
                </a:solidFill>
              </a:defRPr>
            </a:pPr>
            <a:r>
              <a:rPr sz="2100" b="1">
                <a:solidFill>
                  <a:srgbClr val="C26A32"/>
                </a:solidFill>
              </a:rPr>
              <a:t>Explain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8FCB8CA6-7496-43C9-8D8B-0252C3EDDA5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324100" y="4000500"/>
            <a:ext cx="8477250" cy="609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725">
                <a:solidFill>
                  <a:srgbClr val="173D31"/>
                </a:solidFill>
              </a:defRPr>
            </a:pPr>
            <a:r>
              <a:rPr sz="1725">
                <a:solidFill>
                  <a:srgbClr val="173D31"/>
                </a:solidFill>
              </a:rPr>
              <a:t>Connect the decision, reason and likely result.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44FE8752-321B-48B3-BF59-B277DE26623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8200" y="4724400"/>
            <a:ext cx="990600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19050">
            <a:solidFill>
              <a:srgbClr val="F2D4B8"/>
            </a:solidFill>
            <a:prstDash val="solid"/>
          </a:ln>
        </p:spPr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F3B85F10-A47C-449A-B169-BDF0777DAE7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9150" y="5029200"/>
            <a:ext cx="1428750" cy="476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2100" b="1">
                <a:solidFill>
                  <a:srgbClr val="C26A32"/>
                </a:solidFill>
              </a:defRPr>
            </a:pPr>
            <a:r>
              <a:rPr sz="2100" b="1">
                <a:solidFill>
                  <a:srgbClr val="C26A32"/>
                </a:solidFill>
              </a:rPr>
              <a:t>Check</a:t>
            </a:r>
          </a:p>
        </p:txBody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E282C361-F02B-4AE4-9BBC-924D555A6CF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324100" y="5048250"/>
            <a:ext cx="8477250" cy="609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725">
                <a:solidFill>
                  <a:srgbClr val="173D31"/>
                </a:solidFill>
              </a:defRPr>
            </a:pPr>
            <a:r>
              <a:rPr sz="1725">
                <a:solidFill>
                  <a:srgbClr val="173D31"/>
                </a:solidFill>
              </a:rPr>
              <a:t>Make sure the response answers the question and stays source-accurate.</a:t>
            </a:r>
          </a:p>
        </p:txBody>
      </p:sp>
    </p:spTree>
    <p:extLst>
      <p:ext uri="{BB962C8B-B14F-4D97-AF65-F5344CB8AC3E}">
        <p14:creationId xmlns:p14="http://schemas.microsoft.com/office/powerpoint/2010/main" val="164988672"/>
      </p:ext>
    </p:extLst>
  </p:cSld>
</p:sld>
</file>

<file path=ppt/slides/slide8.xml><?xml version="1.0" encoding="utf-8"?>
<p:sld xmlns:p="http://schemas.openxmlformats.org/presentationml/2006/main">
  <p:cSld>
    <p:bg>
      <p:bgPr>
        <a:solidFill xmlns:a="http://schemas.openxmlformats.org/drawingml/2006/main">
          <a:srgbClr val="FBF6E8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2B9134F3-64F2-474E-B805-308A0CA914B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2192000" cy="171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C26A32"/>
          </a:solidFill>
          <a:ln xmlns:a="http://schemas.openxmlformats.org/drawingml/2006/main" w="0">
            <a:solidFill>
              <a:srgbClr val="C26A32"/>
            </a:solidFill>
            <a:prstDash val="solid"/>
          </a:ln>
        </p:spPr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5AB0846A-DCB8-47D3-832D-F0EAF7519BB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323850"/>
            <a:ext cx="40005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050" b="1">
                <a:solidFill>
                  <a:srgbClr val="C26A32"/>
                </a:solidFill>
              </a:defRPr>
            </a:pPr>
            <a:r>
              <a:rPr sz="1050" b="1">
                <a:solidFill>
                  <a:srgbClr val="C26A32"/>
                </a:solidFill>
              </a:rPr>
              <a:t>CARRY-ALL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78F15F1A-BF56-4C5E-A4EC-46024728558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858250" y="323850"/>
            <a:ext cx="264795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r">
              <a:defRPr sz="1050">
                <a:solidFill>
                  <a:srgbClr val="5A6A65"/>
                </a:solidFill>
              </a:defRPr>
            </a:pPr>
            <a:r>
              <a:rPr sz="1050">
                <a:solidFill>
                  <a:srgbClr val="5A6A65"/>
                </a:solidFill>
              </a:rPr>
              <a:t>Weeks 3–4  ·  8/8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0F833169-BB2F-42D4-8EA3-4633C911067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857250"/>
            <a:ext cx="6667500" cy="8001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4500" b="1">
                <a:solidFill>
                  <a:srgbClr val="173D31"/>
                </a:solidFill>
              </a:defRPr>
            </a:pPr>
            <a:r>
              <a:rPr sz="4500" b="1">
                <a:solidFill>
                  <a:srgbClr val="173D31"/>
                </a:solidFill>
              </a:rPr>
              <a:t>Exit ticket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1A81F314-FCF0-4563-B047-A21F398F801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3900" y="1695450"/>
            <a:ext cx="8763000" cy="4381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725">
                <a:solidFill>
                  <a:srgbClr val="435A53"/>
                </a:solidFill>
              </a:defRPr>
            </a:pPr>
            <a:r>
              <a:rPr sz="1725">
                <a:solidFill>
                  <a:srgbClr val="435A53"/>
                </a:solidFill>
              </a:rPr>
              <a:t>Before you finish this module, answer these in your own words: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7E013A0F-5409-4282-9FD8-98B9B5572E4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1050" y="2495550"/>
            <a:ext cx="10382250" cy="742950"/>
          </a:xfrm>
          <a:prstGeom xmlns:a="http://schemas.openxmlformats.org/drawingml/2006/main" prst="roundRect">
            <a:avLst>
              <a:gd name="adj" fmla="val 20513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19050">
            <a:solidFill>
              <a:srgbClr val="F2D4B8"/>
            </a:solidFill>
            <a:prstDash val="solid"/>
          </a:ln>
        </p:spPr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D0FEA43E-FEE2-4D88-A1C0-45470A58624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66800" y="2667000"/>
            <a:ext cx="9715500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650" b="1">
                <a:solidFill>
                  <a:srgbClr val="173D31"/>
                </a:solidFill>
              </a:defRPr>
            </a:pPr>
            <a:r>
              <a:rPr sz="1650" b="1">
                <a:solidFill>
                  <a:srgbClr val="173D31"/>
                </a:solidFill>
              </a:rPr>
              <a:t>1. One idea I can now explain: Selecting pine and plywood for the Carry-All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552CE4B6-6F47-44C2-B8F9-03066C3724E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1050" y="3562350"/>
            <a:ext cx="10382250" cy="742950"/>
          </a:xfrm>
          <a:prstGeom xmlns:a="http://schemas.openxmlformats.org/drawingml/2006/main" prst="roundRect">
            <a:avLst>
              <a:gd name="adj" fmla="val 20513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19050">
            <a:solidFill>
              <a:srgbClr val="F2D4B8"/>
            </a:solidFill>
            <a:prstDash val="solid"/>
          </a:ln>
        </p:spPr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DF273A0F-7830-48DD-BBC5-86D6C8EAF50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66800" y="3733800"/>
            <a:ext cx="9715500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650" b="0">
                <a:solidFill>
                  <a:srgbClr val="173D31"/>
                </a:solidFill>
              </a:defRPr>
            </a:pPr>
            <a:r>
              <a:rPr sz="1650" b="0">
                <a:solidFill>
                  <a:srgbClr val="173D31"/>
                </a:solidFill>
              </a:rPr>
              <a:t>2. One practical check I must remember before the next stage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B95B0342-75C9-4E43-B09B-3675EE88244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1050" y="4629150"/>
            <a:ext cx="10382250" cy="742950"/>
          </a:xfrm>
          <a:prstGeom xmlns:a="http://schemas.openxmlformats.org/drawingml/2006/main" prst="roundRect">
            <a:avLst>
              <a:gd name="adj" fmla="val 20513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19050">
            <a:solidFill>
              <a:srgbClr val="F2D4B8"/>
            </a:solidFill>
            <a:prstDash val="solid"/>
          </a:ln>
        </p:spPr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198B5B5C-13E8-4916-9D42-18F2BC82ED6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66800" y="4800600"/>
            <a:ext cx="9715500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650" b="0">
                <a:solidFill>
                  <a:srgbClr val="173D31"/>
                </a:solidFill>
              </a:defRPr>
            </a:pPr>
            <a:r>
              <a:rPr sz="1650" b="0">
                <a:solidFill>
                  <a:srgbClr val="173D31"/>
                </a:solidFill>
              </a:rPr>
              <a:t>3. One piece of evidence I should save or improve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43E96CC9-0EC8-4A9B-B3A9-3A051345F63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1050" y="5962650"/>
            <a:ext cx="10096500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350" b="1">
                <a:solidFill>
                  <a:srgbClr val="C26A32"/>
                </a:solidFill>
              </a:defRPr>
            </a:pPr>
            <a:r>
              <a:rPr sz="1350" b="1">
                <a:solidFill>
                  <a:srgbClr val="C26A32"/>
                </a:solidFill>
              </a:rPr>
              <a:t>Return to the module page to complete the checks, written response and folio evidence.</a:t>
            </a:r>
          </a:p>
        </p:txBody>
      </p:sp>
    </p:spTree>
    <p:extLst>
      <p:ext uri="{BB962C8B-B14F-4D97-AF65-F5344CB8AC3E}">
        <p14:creationId xmlns:p14="http://schemas.microsoft.com/office/powerpoint/2010/main" val="2005766779"/>
      </p:ext>
    </p:extLst>
  </p:cSld>
</p:sld>
</file>

<file path=ppt/theme/theme1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Calibri Light"/>
        <a:ea typeface="Calibri Light"/>
        <a:cs typeface="Calibri Light"/>
      </a:majorFont>
      <a:minorFont>
        <a:latin typeface="Calibri"/>
        <a:ea typeface="Calibri"/>
        <a:cs typeface="Calibri"/>
      </a:minorFont>
    </a:fontScheme>
    <a:fmtScheme name="ChatGPT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docProps/app.xml><?xml version="1.0" encoding="utf-8"?>
<ap:Properties xmlns:ap="http://schemas.openxmlformats.org/officeDocument/2006/extended-properties">
  <ap:Application>Walnut Exporter</ap:Application>
  <ap:PresentationFormat>Converted Presentation</ap:PresentationFormat>
  <ap:Slides>0</ap:Slides>
  <ap:Notes>0</ap:Notes>
  <ap:HiddenSlides>0</ap:HiddenSlides>
  <ap:SharedDoc>false</ap:SharedDoc>
  <ap:DocSecurity>0</ap:DocSecurity>
</ap:Properties>
</file>

<file path=docProps/core.xml><?xml version="1.0" encoding="utf-8"?>
<coreProperties xmlns:dc="http://purl.org/dc/elements/1.1/" xmlns:dcterms="http://purl.org/dc/terms/" xmlns:xsi="http://www.w3.org/2001/XMLSchema-instance" xmlns="http://schemas.openxmlformats.org/package/2006/metadata/core-properties">
  <dc:creator>Walnut Exporter</dc:creator>
  <lastModifiedBy>Walnut Exporter</lastModifiedBy>
  <dc:title>Presentation</dc:title>
  <dcterms:created xsi:type="dcterms:W3CDTF">2026-08-16T02:12:26.8650000Z</dcterms:created>
  <dcterms:modified xsi:type="dcterms:W3CDTF">2026-08-16T02:12:26.8650000Z</dcterms:modified>
</coreProperties>
</file>